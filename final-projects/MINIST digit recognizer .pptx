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lice Bold" charset="1" panose="00000500000000000000"/>
      <p:regular r:id="rId19"/>
    </p:embeddedFont>
    <p:embeddedFont>
      <p:font typeface="Lexend Deca" charset="1" panose="00000000000000000000"/>
      <p:regular r:id="rId20"/>
    </p:embeddedFont>
    <p:embeddedFont>
      <p:font typeface="Canva Sans Bold" charset="1" panose="020B0803030501040103"/>
      <p:regular r:id="rId21"/>
    </p:embeddedFont>
    <p:embeddedFont>
      <p:font typeface="Hanuman Bold" charset="1" panose="02020502060506020304"/>
      <p:regular r:id="rId22"/>
    </p:embeddedFont>
    <p:embeddedFont>
      <p:font typeface="Hanuman" charset="1" panose="02020502060506020304"/>
      <p:regular r:id="rId23"/>
    </p:embeddedFont>
    <p:embeddedFont>
      <p:font typeface="Canva Sans" charset="1" panose="020B05030305010401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12" Target="../media/image34.png" Type="http://schemas.openxmlformats.org/officeDocument/2006/relationships/image"/><Relationship Id="rId13" Target="../media/image35.svg" Type="http://schemas.openxmlformats.org/officeDocument/2006/relationships/image"/><Relationship Id="rId14" Target="../media/image36.png" Type="http://schemas.openxmlformats.org/officeDocument/2006/relationships/image"/><Relationship Id="rId15" Target="../media/image37.svg" Type="http://schemas.openxmlformats.org/officeDocument/2006/relationships/image"/><Relationship Id="rId16" Target="../media/image38.png" Type="http://schemas.openxmlformats.org/officeDocument/2006/relationships/image"/><Relationship Id="rId17" Target="../media/image39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18" Target="../media/image19.png" Type="http://schemas.openxmlformats.org/officeDocument/2006/relationships/image"/><Relationship Id="rId19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1.png" Type="http://schemas.openxmlformats.org/officeDocument/2006/relationships/image"/><Relationship Id="rId5" Target="../media/image42.png" Type="http://schemas.openxmlformats.org/officeDocument/2006/relationships/image"/><Relationship Id="rId6" Target="../media/image4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18" Target="../media/image19.png" Type="http://schemas.openxmlformats.org/officeDocument/2006/relationships/image"/><Relationship Id="rId19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0.png" Type="http://schemas.openxmlformats.org/officeDocument/2006/relationships/image"/><Relationship Id="rId5" Target="../media/image5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18" Target="../media/image19.png" Type="http://schemas.openxmlformats.org/officeDocument/2006/relationships/image"/><Relationship Id="rId19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3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32030" y="-454040"/>
            <a:ext cx="22352060" cy="11195080"/>
            <a:chOff x="0" y="0"/>
            <a:chExt cx="29802747" cy="14926774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14875974" y="0"/>
              <a:ext cx="14926774" cy="14926774"/>
            </a:xfrm>
            <a:custGeom>
              <a:avLst/>
              <a:gdLst/>
              <a:ahLst/>
              <a:cxnLst/>
              <a:rect r="r" b="b" t="t" l="l"/>
              <a:pathLst>
                <a:path h="14926774" w="14926774">
                  <a:moveTo>
                    <a:pt x="0" y="0"/>
                  </a:moveTo>
                  <a:lnTo>
                    <a:pt x="14926773" y="0"/>
                  </a:lnTo>
                  <a:lnTo>
                    <a:pt x="14926773" y="14926774"/>
                  </a:lnTo>
                  <a:lnTo>
                    <a:pt x="0" y="14926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0" y="0"/>
              <a:ext cx="14926774" cy="14926774"/>
            </a:xfrm>
            <a:custGeom>
              <a:avLst/>
              <a:gdLst/>
              <a:ahLst/>
              <a:cxnLst/>
              <a:rect r="r" b="b" t="t" l="l"/>
              <a:pathLst>
                <a:path h="14926774" w="14926774">
                  <a:moveTo>
                    <a:pt x="0" y="0"/>
                  </a:moveTo>
                  <a:lnTo>
                    <a:pt x="14926774" y="0"/>
                  </a:lnTo>
                  <a:lnTo>
                    <a:pt x="14926774" y="14926774"/>
                  </a:lnTo>
                  <a:lnTo>
                    <a:pt x="0" y="14926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73272" y="1488242"/>
            <a:ext cx="15741457" cy="7310516"/>
            <a:chOff x="0" y="0"/>
            <a:chExt cx="4145898" cy="19254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45898" cy="1925403"/>
            </a:xfrm>
            <a:custGeom>
              <a:avLst/>
              <a:gdLst/>
              <a:ahLst/>
              <a:cxnLst/>
              <a:rect r="r" b="b" t="t" l="l"/>
              <a:pathLst>
                <a:path h="1925403" w="4145898">
                  <a:moveTo>
                    <a:pt x="14263" y="0"/>
                  </a:moveTo>
                  <a:lnTo>
                    <a:pt x="4131635" y="0"/>
                  </a:lnTo>
                  <a:cubicBezTo>
                    <a:pt x="4139512" y="0"/>
                    <a:pt x="4145898" y="6386"/>
                    <a:pt x="4145898" y="14263"/>
                  </a:cubicBezTo>
                  <a:lnTo>
                    <a:pt x="4145898" y="1911141"/>
                  </a:lnTo>
                  <a:cubicBezTo>
                    <a:pt x="4145898" y="1914923"/>
                    <a:pt x="4144395" y="1918551"/>
                    <a:pt x="4141721" y="1921226"/>
                  </a:cubicBezTo>
                  <a:cubicBezTo>
                    <a:pt x="4139046" y="1923901"/>
                    <a:pt x="4135418" y="1925403"/>
                    <a:pt x="4131635" y="1925403"/>
                  </a:cubicBezTo>
                  <a:lnTo>
                    <a:pt x="14263" y="1925403"/>
                  </a:lnTo>
                  <a:cubicBezTo>
                    <a:pt x="10480" y="1925403"/>
                    <a:pt x="6852" y="1923901"/>
                    <a:pt x="4177" y="1921226"/>
                  </a:cubicBezTo>
                  <a:cubicBezTo>
                    <a:pt x="1503" y="1918551"/>
                    <a:pt x="0" y="1914923"/>
                    <a:pt x="0" y="1911141"/>
                  </a:cubicBezTo>
                  <a:lnTo>
                    <a:pt x="0" y="14263"/>
                  </a:lnTo>
                  <a:cubicBezTo>
                    <a:pt x="0" y="10480"/>
                    <a:pt x="1503" y="6852"/>
                    <a:pt x="4177" y="4177"/>
                  </a:cubicBezTo>
                  <a:cubicBezTo>
                    <a:pt x="6852" y="1503"/>
                    <a:pt x="10480" y="0"/>
                    <a:pt x="14263" y="0"/>
                  </a:cubicBezTo>
                  <a:close/>
                </a:path>
              </a:pathLst>
            </a:custGeom>
            <a:solidFill>
              <a:srgbClr val="F5F4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145898" cy="1963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71556" y="4331223"/>
            <a:ext cx="15941641" cy="1453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782"/>
              </a:lnSpc>
              <a:spcBef>
                <a:spcPct val="0"/>
              </a:spcBef>
            </a:pPr>
            <a:r>
              <a:rPr lang="en-US" sz="8416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MINIST DIGIT RECOGNIZER 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605417">
            <a:off x="13957311" y="848570"/>
            <a:ext cx="2028239" cy="2643439"/>
          </a:xfrm>
          <a:custGeom>
            <a:avLst/>
            <a:gdLst/>
            <a:ahLst/>
            <a:cxnLst/>
            <a:rect r="r" b="b" t="t" l="l"/>
            <a:pathLst>
              <a:path h="2643439" w="2028239">
                <a:moveTo>
                  <a:pt x="0" y="0"/>
                </a:moveTo>
                <a:lnTo>
                  <a:pt x="2028239" y="0"/>
                </a:lnTo>
                <a:lnTo>
                  <a:pt x="2028239" y="2643439"/>
                </a:lnTo>
                <a:lnTo>
                  <a:pt x="0" y="264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179608">
            <a:off x="-31783" y="2109683"/>
            <a:ext cx="1601231" cy="2361064"/>
          </a:xfrm>
          <a:custGeom>
            <a:avLst/>
            <a:gdLst/>
            <a:ahLst/>
            <a:cxnLst/>
            <a:rect r="r" b="b" t="t" l="l"/>
            <a:pathLst>
              <a:path h="2361064" w="1601231">
                <a:moveTo>
                  <a:pt x="0" y="0"/>
                </a:moveTo>
                <a:lnTo>
                  <a:pt x="1601230" y="0"/>
                </a:lnTo>
                <a:lnTo>
                  <a:pt x="1601230" y="2361064"/>
                </a:lnTo>
                <a:lnTo>
                  <a:pt x="0" y="23610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937205">
            <a:off x="165690" y="7641062"/>
            <a:ext cx="1726020" cy="2315392"/>
          </a:xfrm>
          <a:custGeom>
            <a:avLst/>
            <a:gdLst/>
            <a:ahLst/>
            <a:cxnLst/>
            <a:rect r="r" b="b" t="t" l="l"/>
            <a:pathLst>
              <a:path h="2315392" w="1726020">
                <a:moveTo>
                  <a:pt x="0" y="0"/>
                </a:moveTo>
                <a:lnTo>
                  <a:pt x="1726020" y="0"/>
                </a:lnTo>
                <a:lnTo>
                  <a:pt x="1726020" y="2315392"/>
                </a:lnTo>
                <a:lnTo>
                  <a:pt x="0" y="2315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60448">
            <a:off x="5826827" y="8241833"/>
            <a:ext cx="1595832" cy="2262133"/>
          </a:xfrm>
          <a:custGeom>
            <a:avLst/>
            <a:gdLst/>
            <a:ahLst/>
            <a:cxnLst/>
            <a:rect r="r" b="b" t="t" l="l"/>
            <a:pathLst>
              <a:path h="2262133" w="1595832">
                <a:moveTo>
                  <a:pt x="0" y="0"/>
                </a:moveTo>
                <a:lnTo>
                  <a:pt x="1595833" y="0"/>
                </a:lnTo>
                <a:lnTo>
                  <a:pt x="1595833" y="2262133"/>
                </a:lnTo>
                <a:lnTo>
                  <a:pt x="0" y="226213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441563">
            <a:off x="11935615" y="8229600"/>
            <a:ext cx="1909624" cy="2288221"/>
          </a:xfrm>
          <a:custGeom>
            <a:avLst/>
            <a:gdLst/>
            <a:ahLst/>
            <a:cxnLst/>
            <a:rect r="r" b="b" t="t" l="l"/>
            <a:pathLst>
              <a:path h="2288221" w="1909624">
                <a:moveTo>
                  <a:pt x="0" y="0"/>
                </a:moveTo>
                <a:lnTo>
                  <a:pt x="1909624" y="0"/>
                </a:lnTo>
                <a:lnTo>
                  <a:pt x="1909624" y="2288221"/>
                </a:lnTo>
                <a:lnTo>
                  <a:pt x="0" y="228822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875697">
            <a:off x="16888773" y="6399337"/>
            <a:ext cx="1697776" cy="2450858"/>
          </a:xfrm>
          <a:custGeom>
            <a:avLst/>
            <a:gdLst/>
            <a:ahLst/>
            <a:cxnLst/>
            <a:rect r="r" b="b" t="t" l="l"/>
            <a:pathLst>
              <a:path h="2450858" w="1697776">
                <a:moveTo>
                  <a:pt x="0" y="0"/>
                </a:moveTo>
                <a:lnTo>
                  <a:pt x="1697776" y="0"/>
                </a:lnTo>
                <a:lnTo>
                  <a:pt x="1697776" y="2450858"/>
                </a:lnTo>
                <a:lnTo>
                  <a:pt x="0" y="24508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1381185">
            <a:off x="16249750" y="171617"/>
            <a:ext cx="1761264" cy="2368447"/>
          </a:xfrm>
          <a:custGeom>
            <a:avLst/>
            <a:gdLst/>
            <a:ahLst/>
            <a:cxnLst/>
            <a:rect r="r" b="b" t="t" l="l"/>
            <a:pathLst>
              <a:path h="2368447" w="1761264">
                <a:moveTo>
                  <a:pt x="0" y="0"/>
                </a:moveTo>
                <a:lnTo>
                  <a:pt x="1761263" y="0"/>
                </a:lnTo>
                <a:lnTo>
                  <a:pt x="1761263" y="2368448"/>
                </a:lnTo>
                <a:lnTo>
                  <a:pt x="0" y="236844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814235">
            <a:off x="11029412" y="-194797"/>
            <a:ext cx="1535032" cy="2215926"/>
          </a:xfrm>
          <a:custGeom>
            <a:avLst/>
            <a:gdLst/>
            <a:ahLst/>
            <a:cxnLst/>
            <a:rect r="r" b="b" t="t" l="l"/>
            <a:pathLst>
              <a:path h="2215926" w="1535032">
                <a:moveTo>
                  <a:pt x="0" y="0"/>
                </a:moveTo>
                <a:lnTo>
                  <a:pt x="1535033" y="0"/>
                </a:lnTo>
                <a:lnTo>
                  <a:pt x="1535033" y="2215926"/>
                </a:lnTo>
                <a:lnTo>
                  <a:pt x="0" y="221592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673014" y="-405236"/>
            <a:ext cx="1687393" cy="2314379"/>
          </a:xfrm>
          <a:custGeom>
            <a:avLst/>
            <a:gdLst/>
            <a:ahLst/>
            <a:cxnLst/>
            <a:rect r="r" b="b" t="t" l="l"/>
            <a:pathLst>
              <a:path h="2314379" w="1687393">
                <a:moveTo>
                  <a:pt x="0" y="0"/>
                </a:moveTo>
                <a:lnTo>
                  <a:pt x="1687393" y="0"/>
                </a:lnTo>
                <a:lnTo>
                  <a:pt x="1687393" y="2314379"/>
                </a:lnTo>
                <a:lnTo>
                  <a:pt x="0" y="231437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3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73977" y="3045707"/>
            <a:ext cx="10940046" cy="6788273"/>
            <a:chOff x="0" y="0"/>
            <a:chExt cx="2478691" cy="15380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78691" cy="1538022"/>
            </a:xfrm>
            <a:custGeom>
              <a:avLst/>
              <a:gdLst/>
              <a:ahLst/>
              <a:cxnLst/>
              <a:rect r="r" b="b" t="t" l="l"/>
              <a:pathLst>
                <a:path h="1538022" w="2478691">
                  <a:moveTo>
                    <a:pt x="20522" y="0"/>
                  </a:moveTo>
                  <a:lnTo>
                    <a:pt x="2458169" y="0"/>
                  </a:lnTo>
                  <a:cubicBezTo>
                    <a:pt x="2463612" y="0"/>
                    <a:pt x="2468832" y="2162"/>
                    <a:pt x="2472680" y="6011"/>
                  </a:cubicBezTo>
                  <a:cubicBezTo>
                    <a:pt x="2476529" y="9860"/>
                    <a:pt x="2478691" y="15079"/>
                    <a:pt x="2478691" y="20522"/>
                  </a:cubicBezTo>
                  <a:lnTo>
                    <a:pt x="2478691" y="1517500"/>
                  </a:lnTo>
                  <a:cubicBezTo>
                    <a:pt x="2478691" y="1528834"/>
                    <a:pt x="2469503" y="1538022"/>
                    <a:pt x="2458169" y="1538022"/>
                  </a:cubicBezTo>
                  <a:lnTo>
                    <a:pt x="20522" y="1538022"/>
                  </a:lnTo>
                  <a:cubicBezTo>
                    <a:pt x="9188" y="1538022"/>
                    <a:pt x="0" y="1528834"/>
                    <a:pt x="0" y="1517500"/>
                  </a:cubicBezTo>
                  <a:lnTo>
                    <a:pt x="0" y="20522"/>
                  </a:lnTo>
                  <a:cubicBezTo>
                    <a:pt x="0" y="15079"/>
                    <a:pt x="2162" y="9860"/>
                    <a:pt x="6011" y="6011"/>
                  </a:cubicBezTo>
                  <a:cubicBezTo>
                    <a:pt x="9860" y="2162"/>
                    <a:pt x="15079" y="0"/>
                    <a:pt x="20522" y="0"/>
                  </a:cubicBezTo>
                  <a:close/>
                </a:path>
              </a:pathLst>
            </a:custGeom>
            <a:solidFill>
              <a:srgbClr val="F5F4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78691" cy="1576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876272" y="3236641"/>
            <a:ext cx="10535457" cy="6406404"/>
          </a:xfrm>
          <a:custGeom>
            <a:avLst/>
            <a:gdLst/>
            <a:ahLst/>
            <a:cxnLst/>
            <a:rect r="r" b="b" t="t" l="l"/>
            <a:pathLst>
              <a:path h="6406404" w="10535457">
                <a:moveTo>
                  <a:pt x="0" y="0"/>
                </a:moveTo>
                <a:lnTo>
                  <a:pt x="10535456" y="0"/>
                </a:lnTo>
                <a:lnTo>
                  <a:pt x="10535456" y="6406404"/>
                </a:lnTo>
                <a:lnTo>
                  <a:pt x="0" y="6406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5218" t="-78351" r="-64692" b="-2014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806365">
            <a:off x="8633758" y="859007"/>
            <a:ext cx="1820258" cy="1039671"/>
          </a:xfrm>
          <a:custGeom>
            <a:avLst/>
            <a:gdLst/>
            <a:ahLst/>
            <a:cxnLst/>
            <a:rect r="r" b="b" t="t" l="l"/>
            <a:pathLst>
              <a:path h="1039671" w="1820258">
                <a:moveTo>
                  <a:pt x="0" y="0"/>
                </a:moveTo>
                <a:lnTo>
                  <a:pt x="1820258" y="0"/>
                </a:lnTo>
                <a:lnTo>
                  <a:pt x="1820258" y="1039671"/>
                </a:lnTo>
                <a:lnTo>
                  <a:pt x="0" y="10396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06780" y="424438"/>
            <a:ext cx="1235480" cy="1208524"/>
          </a:xfrm>
          <a:custGeom>
            <a:avLst/>
            <a:gdLst/>
            <a:ahLst/>
            <a:cxnLst/>
            <a:rect r="r" b="b" t="t" l="l"/>
            <a:pathLst>
              <a:path h="1208524" w="1235480">
                <a:moveTo>
                  <a:pt x="0" y="0"/>
                </a:moveTo>
                <a:lnTo>
                  <a:pt x="1235480" y="0"/>
                </a:lnTo>
                <a:lnTo>
                  <a:pt x="1235480" y="1208524"/>
                </a:lnTo>
                <a:lnTo>
                  <a:pt x="0" y="12085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89046" y="291088"/>
            <a:ext cx="15709907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20"/>
              </a:lnSpc>
              <a:spcBef>
                <a:spcPct val="0"/>
              </a:spcBef>
            </a:pPr>
            <a:r>
              <a:rPr lang="en-US" sz="6300" u="sng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Best fitting model: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82897" y="1999130"/>
            <a:ext cx="17259300" cy="863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Multilayer Perceptron (MLP)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8E3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1216" y="5918148"/>
            <a:ext cx="16440490" cy="1471584"/>
            <a:chOff x="0" y="0"/>
            <a:chExt cx="4330005" cy="3875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0005" cy="387578"/>
            </a:xfrm>
            <a:custGeom>
              <a:avLst/>
              <a:gdLst/>
              <a:ahLst/>
              <a:cxnLst/>
              <a:rect r="r" b="b" t="t" l="l"/>
              <a:pathLst>
                <a:path h="387578" w="4330005">
                  <a:moveTo>
                    <a:pt x="13656" y="0"/>
                  </a:moveTo>
                  <a:lnTo>
                    <a:pt x="4316349" y="0"/>
                  </a:lnTo>
                  <a:cubicBezTo>
                    <a:pt x="4323892" y="0"/>
                    <a:pt x="4330005" y="6114"/>
                    <a:pt x="4330005" y="13656"/>
                  </a:cubicBezTo>
                  <a:lnTo>
                    <a:pt x="4330005" y="373921"/>
                  </a:lnTo>
                  <a:cubicBezTo>
                    <a:pt x="4330005" y="381464"/>
                    <a:pt x="4323892" y="387578"/>
                    <a:pt x="4316349" y="387578"/>
                  </a:cubicBezTo>
                  <a:lnTo>
                    <a:pt x="13656" y="387578"/>
                  </a:lnTo>
                  <a:cubicBezTo>
                    <a:pt x="6114" y="387578"/>
                    <a:pt x="0" y="381464"/>
                    <a:pt x="0" y="373921"/>
                  </a:cubicBezTo>
                  <a:lnTo>
                    <a:pt x="0" y="13656"/>
                  </a:lnTo>
                  <a:cubicBezTo>
                    <a:pt x="0" y="6114"/>
                    <a:pt x="6114" y="0"/>
                    <a:pt x="13656" y="0"/>
                  </a:cubicBezTo>
                  <a:close/>
                </a:path>
              </a:pathLst>
            </a:custGeom>
            <a:solidFill>
              <a:srgbClr val="F5F4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30005" cy="425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1216" y="3174540"/>
            <a:ext cx="16440490" cy="1653694"/>
            <a:chOff x="0" y="0"/>
            <a:chExt cx="4330005" cy="4355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30005" cy="435541"/>
            </a:xfrm>
            <a:custGeom>
              <a:avLst/>
              <a:gdLst/>
              <a:ahLst/>
              <a:cxnLst/>
              <a:rect r="r" b="b" t="t" l="l"/>
              <a:pathLst>
                <a:path h="435541" w="4330005">
                  <a:moveTo>
                    <a:pt x="13656" y="0"/>
                  </a:moveTo>
                  <a:lnTo>
                    <a:pt x="4316349" y="0"/>
                  </a:lnTo>
                  <a:cubicBezTo>
                    <a:pt x="4323892" y="0"/>
                    <a:pt x="4330005" y="6114"/>
                    <a:pt x="4330005" y="13656"/>
                  </a:cubicBezTo>
                  <a:lnTo>
                    <a:pt x="4330005" y="421884"/>
                  </a:lnTo>
                  <a:cubicBezTo>
                    <a:pt x="4330005" y="429427"/>
                    <a:pt x="4323892" y="435541"/>
                    <a:pt x="4316349" y="435541"/>
                  </a:cubicBezTo>
                  <a:lnTo>
                    <a:pt x="13656" y="435541"/>
                  </a:lnTo>
                  <a:cubicBezTo>
                    <a:pt x="6114" y="435541"/>
                    <a:pt x="0" y="429427"/>
                    <a:pt x="0" y="421884"/>
                  </a:cubicBezTo>
                  <a:lnTo>
                    <a:pt x="0" y="13656"/>
                  </a:lnTo>
                  <a:cubicBezTo>
                    <a:pt x="0" y="6114"/>
                    <a:pt x="6114" y="0"/>
                    <a:pt x="13656" y="0"/>
                  </a:cubicBezTo>
                  <a:close/>
                </a:path>
              </a:pathLst>
            </a:custGeom>
            <a:solidFill>
              <a:srgbClr val="F5F4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30005" cy="473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02959" y="2272242"/>
            <a:ext cx="756716" cy="756716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42816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04010" y="2150220"/>
            <a:ext cx="912979" cy="93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7740"/>
              </a:lnSpc>
              <a:spcBef>
                <a:spcPct val="0"/>
              </a:spcBef>
            </a:pPr>
            <a:r>
              <a:rPr lang="en-US" b="true" sz="4929" u="none">
                <a:solidFill>
                  <a:srgbClr val="F1E6B8"/>
                </a:solidFill>
                <a:latin typeface="Hanuman Bold"/>
                <a:ea typeface="Hanuman Bold"/>
                <a:cs typeface="Hanuman Bold"/>
                <a:sym typeface="Hanuman Bold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38437" y="466725"/>
            <a:ext cx="14168175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Data preprocessing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6988" y="2272123"/>
            <a:ext cx="5738754" cy="767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9"/>
              </a:lnSpc>
              <a:spcBef>
                <a:spcPct val="0"/>
              </a:spcBef>
            </a:pPr>
            <a:r>
              <a:rPr lang="en-US" b="true" sz="4299">
                <a:solidFill>
                  <a:srgbClr val="000000"/>
                </a:solidFill>
                <a:latin typeface="Hanuman Bold"/>
                <a:ea typeface="Hanuman Bold"/>
                <a:cs typeface="Hanuman Bold"/>
                <a:sym typeface="Hanuman Bold"/>
              </a:rPr>
              <a:t>Image Reshaping: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16988" y="5022340"/>
            <a:ext cx="5738754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0000"/>
                </a:solidFill>
                <a:latin typeface="Hanuman Bold"/>
                <a:ea typeface="Hanuman Bold"/>
                <a:cs typeface="Hanuman Bold"/>
                <a:sym typeface="Hanuman Bold"/>
              </a:rPr>
              <a:t>Image normalization: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3133" y="3369476"/>
            <a:ext cx="15576654" cy="127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Hanuman Bold"/>
                <a:ea typeface="Hanuman Bold"/>
                <a:cs typeface="Hanuman Bold"/>
                <a:sym typeface="Hanuman Bold"/>
              </a:rPr>
              <a:t>Images reshaped from (28, 28) to 1D vector (784 features) to fit into a fully connected neural network.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40622" y="6308673"/>
            <a:ext cx="16117369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Hanuman Bold"/>
                <a:ea typeface="Hanuman Bold"/>
                <a:cs typeface="Hanuman Bold"/>
                <a:sym typeface="Hanuman Bold"/>
              </a:rPr>
              <a:t>Pixel values scaled from [0, 255] to [0, 1] to improve training stability and speed.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34775" y="4971109"/>
            <a:ext cx="756716" cy="756716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42816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309278" y="4893710"/>
            <a:ext cx="1007710" cy="83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842"/>
              </a:lnSpc>
              <a:spcBef>
                <a:spcPct val="0"/>
              </a:spcBef>
            </a:pPr>
            <a:r>
              <a:rPr lang="en-US" b="true" sz="4358" strike="noStrike" u="none">
                <a:solidFill>
                  <a:srgbClr val="F1E6B8"/>
                </a:solidFill>
                <a:latin typeface="Hanuman Bold"/>
                <a:ea typeface="Hanuman Bold"/>
                <a:cs typeface="Hanuman Bold"/>
                <a:sym typeface="Hanuman Bold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14575" y="6213423"/>
            <a:ext cx="1007710" cy="83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842"/>
              </a:lnSpc>
              <a:spcBef>
                <a:spcPct val="0"/>
              </a:spcBef>
            </a:pPr>
            <a:r>
              <a:rPr lang="en-US" b="true" sz="4358">
                <a:solidFill>
                  <a:srgbClr val="F1E6B8"/>
                </a:solidFill>
                <a:latin typeface="Hanuman Bold"/>
                <a:ea typeface="Hanuman Bold"/>
                <a:cs typeface="Hanuman Bold"/>
                <a:sym typeface="Hanuman Bold"/>
              </a:rPr>
              <a:t>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9675" y="7646907"/>
            <a:ext cx="5738754" cy="767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9"/>
              </a:lnSpc>
              <a:spcBef>
                <a:spcPct val="0"/>
              </a:spcBef>
            </a:pPr>
            <a:r>
              <a:rPr lang="en-US" b="true" sz="4299">
                <a:solidFill>
                  <a:srgbClr val="000000"/>
                </a:solidFill>
                <a:latin typeface="Hanuman Bold"/>
                <a:ea typeface="Hanuman Bold"/>
                <a:cs typeface="Hanuman Bold"/>
                <a:sym typeface="Hanuman Bold"/>
              </a:rPr>
              <a:t>One-hot encoding: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404010" y="7657271"/>
            <a:ext cx="756716" cy="756716"/>
            <a:chOff x="0" y="0"/>
            <a:chExt cx="6350000" cy="6350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42816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278513" y="7589757"/>
            <a:ext cx="1007710" cy="83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842"/>
              </a:lnSpc>
              <a:spcBef>
                <a:spcPct val="0"/>
              </a:spcBef>
            </a:pPr>
            <a:r>
              <a:rPr lang="en-US" b="true" sz="4358">
                <a:solidFill>
                  <a:srgbClr val="F1E6B8"/>
                </a:solidFill>
                <a:latin typeface="Hanuman Bold"/>
                <a:ea typeface="Hanuman Bold"/>
                <a:cs typeface="Hanuman Bold"/>
                <a:sym typeface="Hanuman Bold"/>
              </a:rPr>
              <a:t>3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381216" y="8509597"/>
            <a:ext cx="16440490" cy="1495142"/>
            <a:chOff x="0" y="0"/>
            <a:chExt cx="4330005" cy="39378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30005" cy="393782"/>
            </a:xfrm>
            <a:custGeom>
              <a:avLst/>
              <a:gdLst/>
              <a:ahLst/>
              <a:cxnLst/>
              <a:rect r="r" b="b" t="t" l="l"/>
              <a:pathLst>
                <a:path h="393782" w="4330005">
                  <a:moveTo>
                    <a:pt x="13656" y="0"/>
                  </a:moveTo>
                  <a:lnTo>
                    <a:pt x="4316349" y="0"/>
                  </a:lnTo>
                  <a:cubicBezTo>
                    <a:pt x="4323892" y="0"/>
                    <a:pt x="4330005" y="6114"/>
                    <a:pt x="4330005" y="13656"/>
                  </a:cubicBezTo>
                  <a:lnTo>
                    <a:pt x="4330005" y="380126"/>
                  </a:lnTo>
                  <a:cubicBezTo>
                    <a:pt x="4330005" y="387668"/>
                    <a:pt x="4323892" y="393782"/>
                    <a:pt x="4316349" y="393782"/>
                  </a:cubicBezTo>
                  <a:lnTo>
                    <a:pt x="13656" y="393782"/>
                  </a:lnTo>
                  <a:cubicBezTo>
                    <a:pt x="6114" y="393782"/>
                    <a:pt x="0" y="387668"/>
                    <a:pt x="0" y="380126"/>
                  </a:cubicBezTo>
                  <a:lnTo>
                    <a:pt x="0" y="13656"/>
                  </a:lnTo>
                  <a:cubicBezTo>
                    <a:pt x="0" y="6114"/>
                    <a:pt x="6114" y="0"/>
                    <a:pt x="13656" y="0"/>
                  </a:cubicBezTo>
                  <a:close/>
                </a:path>
              </a:pathLst>
            </a:custGeom>
            <a:solidFill>
              <a:srgbClr val="F5F4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330005" cy="4318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704336" y="8623897"/>
            <a:ext cx="16117369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Hanuman Bold"/>
                <a:ea typeface="Hanuman Bold"/>
                <a:cs typeface="Hanuman Bold"/>
                <a:sym typeface="Hanuman Bold"/>
              </a:rPr>
              <a:t>Labels converted from integers (0–9) to a binary vector (10 classes) for compatibility with the </a:t>
            </a:r>
            <a:r>
              <a:rPr lang="en-US" sz="3500" u="sng">
                <a:solidFill>
                  <a:srgbClr val="000000"/>
                </a:solidFill>
                <a:latin typeface="Hanuman"/>
                <a:ea typeface="Hanuman"/>
                <a:cs typeface="Hanuman"/>
                <a:sym typeface="Hanuman"/>
              </a:rPr>
              <a:t>categorical_crossentropy</a:t>
            </a:r>
            <a:r>
              <a:rPr lang="en-US" b="true" sz="3500" u="sng">
                <a:solidFill>
                  <a:srgbClr val="000000"/>
                </a:solidFill>
                <a:latin typeface="Hanuman Bold"/>
                <a:ea typeface="Hanuman Bold"/>
                <a:cs typeface="Hanuman Bold"/>
                <a:sym typeface="Hanuman Bold"/>
              </a:rPr>
              <a:t> </a:t>
            </a:r>
            <a:r>
              <a:rPr lang="en-US" b="true" sz="3500">
                <a:solidFill>
                  <a:srgbClr val="000000"/>
                </a:solidFill>
                <a:latin typeface="Hanuman Bold"/>
                <a:ea typeface="Hanuman Bold"/>
                <a:cs typeface="Hanuman Bold"/>
                <a:sym typeface="Hanuman Bold"/>
              </a:rPr>
              <a:t>loss function.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3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83264">
            <a:off x="68666" y="545427"/>
            <a:ext cx="789425" cy="1164032"/>
          </a:xfrm>
          <a:custGeom>
            <a:avLst/>
            <a:gdLst/>
            <a:ahLst/>
            <a:cxnLst/>
            <a:rect r="r" b="b" t="t" l="l"/>
            <a:pathLst>
              <a:path h="1164032" w="789425">
                <a:moveTo>
                  <a:pt x="0" y="0"/>
                </a:moveTo>
                <a:lnTo>
                  <a:pt x="789426" y="0"/>
                </a:lnTo>
                <a:lnTo>
                  <a:pt x="789426" y="1164032"/>
                </a:lnTo>
                <a:lnTo>
                  <a:pt x="0" y="1164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53204">
            <a:off x="-133626" y="3086135"/>
            <a:ext cx="1009221" cy="1209306"/>
          </a:xfrm>
          <a:custGeom>
            <a:avLst/>
            <a:gdLst/>
            <a:ahLst/>
            <a:cxnLst/>
            <a:rect r="r" b="b" t="t" l="l"/>
            <a:pathLst>
              <a:path h="1209306" w="1009221">
                <a:moveTo>
                  <a:pt x="0" y="0"/>
                </a:moveTo>
                <a:lnTo>
                  <a:pt x="1009221" y="0"/>
                </a:lnTo>
                <a:lnTo>
                  <a:pt x="1009221" y="1209306"/>
                </a:lnTo>
                <a:lnTo>
                  <a:pt x="0" y="1209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82160">
            <a:off x="-27271" y="5730001"/>
            <a:ext cx="921681" cy="1242462"/>
          </a:xfrm>
          <a:custGeom>
            <a:avLst/>
            <a:gdLst/>
            <a:ahLst/>
            <a:cxnLst/>
            <a:rect r="r" b="b" t="t" l="l"/>
            <a:pathLst>
              <a:path h="1242462" w="921681">
                <a:moveTo>
                  <a:pt x="0" y="0"/>
                </a:moveTo>
                <a:lnTo>
                  <a:pt x="921681" y="0"/>
                </a:lnTo>
                <a:lnTo>
                  <a:pt x="921681" y="1242462"/>
                </a:lnTo>
                <a:lnTo>
                  <a:pt x="0" y="1242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83264">
            <a:off x="-39369" y="8255794"/>
            <a:ext cx="733181" cy="1081098"/>
          </a:xfrm>
          <a:custGeom>
            <a:avLst/>
            <a:gdLst/>
            <a:ahLst/>
            <a:cxnLst/>
            <a:rect r="r" b="b" t="t" l="l"/>
            <a:pathLst>
              <a:path h="1081098" w="733181">
                <a:moveTo>
                  <a:pt x="0" y="0"/>
                </a:moveTo>
                <a:lnTo>
                  <a:pt x="733181" y="0"/>
                </a:lnTo>
                <a:lnTo>
                  <a:pt x="733181" y="1081098"/>
                </a:lnTo>
                <a:lnTo>
                  <a:pt x="0" y="10810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08235">
            <a:off x="643191" y="8341431"/>
            <a:ext cx="840037" cy="1129634"/>
          </a:xfrm>
          <a:custGeom>
            <a:avLst/>
            <a:gdLst/>
            <a:ahLst/>
            <a:cxnLst/>
            <a:rect r="r" b="b" t="t" l="l"/>
            <a:pathLst>
              <a:path h="1129634" w="840037">
                <a:moveTo>
                  <a:pt x="0" y="0"/>
                </a:moveTo>
                <a:lnTo>
                  <a:pt x="840037" y="0"/>
                </a:lnTo>
                <a:lnTo>
                  <a:pt x="840037" y="1129634"/>
                </a:lnTo>
                <a:lnTo>
                  <a:pt x="0" y="11296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60699">
            <a:off x="16715811" y="418482"/>
            <a:ext cx="822719" cy="1103648"/>
          </a:xfrm>
          <a:custGeom>
            <a:avLst/>
            <a:gdLst/>
            <a:ahLst/>
            <a:cxnLst/>
            <a:rect r="r" b="b" t="t" l="l"/>
            <a:pathLst>
              <a:path h="1103648" w="822719">
                <a:moveTo>
                  <a:pt x="0" y="0"/>
                </a:moveTo>
                <a:lnTo>
                  <a:pt x="822720" y="0"/>
                </a:lnTo>
                <a:lnTo>
                  <a:pt x="822720" y="1103648"/>
                </a:lnTo>
                <a:lnTo>
                  <a:pt x="0" y="110364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60349" y="716190"/>
            <a:ext cx="14367303" cy="2308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0"/>
              </a:lnSpc>
            </a:pPr>
            <a:r>
              <a:rPr lang="en-US" sz="66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Model Archeticture</a:t>
            </a:r>
          </a:p>
          <a:p>
            <a:pPr algn="ctr" marL="0" indent="0" lvl="0">
              <a:lnSpc>
                <a:spcPts val="9240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362055" y="2275109"/>
            <a:ext cx="15897245" cy="7748885"/>
            <a:chOff x="0" y="0"/>
            <a:chExt cx="4186929" cy="20408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86929" cy="2040859"/>
            </a:xfrm>
            <a:custGeom>
              <a:avLst/>
              <a:gdLst/>
              <a:ahLst/>
              <a:cxnLst/>
              <a:rect r="r" b="b" t="t" l="l"/>
              <a:pathLst>
                <a:path h="2040859" w="4186929">
                  <a:moveTo>
                    <a:pt x="14123" y="0"/>
                  </a:moveTo>
                  <a:lnTo>
                    <a:pt x="4172806" y="0"/>
                  </a:lnTo>
                  <a:cubicBezTo>
                    <a:pt x="4176552" y="0"/>
                    <a:pt x="4180144" y="1488"/>
                    <a:pt x="4182792" y="4137"/>
                  </a:cubicBezTo>
                  <a:cubicBezTo>
                    <a:pt x="4185441" y="6785"/>
                    <a:pt x="4186929" y="10377"/>
                    <a:pt x="4186929" y="14123"/>
                  </a:cubicBezTo>
                  <a:lnTo>
                    <a:pt x="4186929" y="2026736"/>
                  </a:lnTo>
                  <a:cubicBezTo>
                    <a:pt x="4186929" y="2034536"/>
                    <a:pt x="4180606" y="2040859"/>
                    <a:pt x="4172806" y="2040859"/>
                  </a:cubicBezTo>
                  <a:lnTo>
                    <a:pt x="14123" y="2040859"/>
                  </a:lnTo>
                  <a:cubicBezTo>
                    <a:pt x="10377" y="2040859"/>
                    <a:pt x="6785" y="2039371"/>
                    <a:pt x="4137" y="2036722"/>
                  </a:cubicBezTo>
                  <a:cubicBezTo>
                    <a:pt x="1488" y="2034074"/>
                    <a:pt x="0" y="2030481"/>
                    <a:pt x="0" y="2026736"/>
                  </a:cubicBezTo>
                  <a:lnTo>
                    <a:pt x="0" y="14123"/>
                  </a:lnTo>
                  <a:cubicBezTo>
                    <a:pt x="0" y="10377"/>
                    <a:pt x="1488" y="6785"/>
                    <a:pt x="4137" y="4137"/>
                  </a:cubicBezTo>
                  <a:cubicBezTo>
                    <a:pt x="6785" y="1488"/>
                    <a:pt x="10377" y="0"/>
                    <a:pt x="14123" y="0"/>
                  </a:cubicBezTo>
                  <a:close/>
                </a:path>
              </a:pathLst>
            </a:custGeom>
            <a:solidFill>
              <a:srgbClr val="F5F4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186929" cy="2078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679070" y="3038820"/>
            <a:ext cx="14580230" cy="82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12310" indent="-506155" lvl="1">
              <a:lnSpc>
                <a:spcPts val="6564"/>
              </a:lnSpc>
              <a:buFont typeface="Arial"/>
              <a:buChar char="•"/>
            </a:pPr>
            <a:r>
              <a:rPr lang="en-US" b="true" sz="4688" strike="noStrike" u="none">
                <a:solidFill>
                  <a:srgbClr val="000000"/>
                </a:solidFill>
                <a:latin typeface="Hanuman Bold"/>
                <a:ea typeface="Hanuman Bold"/>
                <a:cs typeface="Hanuman Bold"/>
                <a:sym typeface="Hanuman Bold"/>
              </a:rPr>
              <a:t>Input Layer: 784 neurons (flattened image).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93497" y="5869029"/>
            <a:ext cx="11434361" cy="242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24"/>
              </a:lnSpc>
            </a:pPr>
          </a:p>
          <a:p>
            <a:pPr algn="l" marL="990720" indent="-495360" lvl="1">
              <a:lnSpc>
                <a:spcPts val="6424"/>
              </a:lnSpc>
              <a:buFont typeface="Arial"/>
              <a:buChar char="•"/>
            </a:pPr>
            <a:r>
              <a:rPr lang="en-US" b="true" sz="4588" strike="noStrike" u="none">
                <a:solidFill>
                  <a:srgbClr val="000000"/>
                </a:solidFill>
                <a:latin typeface="Hanuman Bold"/>
                <a:ea typeface="Hanuman Bold"/>
                <a:cs typeface="Hanuman Bold"/>
                <a:sym typeface="Hanuman Bold"/>
              </a:rPr>
              <a:t>Output Layer: Dense(10, Softmax) </a:t>
            </a:r>
          </a:p>
          <a:p>
            <a:pPr algn="l">
              <a:lnSpc>
                <a:spcPts val="6424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434619" y="4167500"/>
            <a:ext cx="13752117" cy="242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90720" indent="-495360" lvl="1">
              <a:lnSpc>
                <a:spcPts val="6424"/>
              </a:lnSpc>
              <a:buFont typeface="Arial"/>
              <a:buChar char="•"/>
            </a:pPr>
            <a:r>
              <a:rPr lang="en-US" b="true" sz="4588" strike="noStrike" u="none">
                <a:solidFill>
                  <a:srgbClr val="000000"/>
                </a:solidFill>
                <a:latin typeface="Hanuman Bold"/>
                <a:ea typeface="Hanuman Bold"/>
                <a:cs typeface="Hanuman Bold"/>
                <a:sym typeface="Hanuman Bold"/>
              </a:rPr>
              <a:t>Hidden Layers: Dense(512, ReLU) +Dropout(0.2)</a:t>
            </a:r>
          </a:p>
          <a:p>
            <a:pPr algn="l">
              <a:lnSpc>
                <a:spcPts val="6424"/>
              </a:lnSpc>
            </a:pPr>
            <a:r>
              <a:rPr lang="en-US" b="true" sz="4588" strike="noStrike" u="none">
                <a:solidFill>
                  <a:srgbClr val="000000"/>
                </a:solidFill>
                <a:latin typeface="Hanuman Bold"/>
                <a:ea typeface="Hanuman Bold"/>
                <a:cs typeface="Hanuman Bold"/>
                <a:sym typeface="Hanuman Bold"/>
              </a:rPr>
              <a:t> </a:t>
            </a:r>
            <a:r>
              <a:rPr lang="en-US" b="true" sz="4588" strike="noStrike" u="none">
                <a:solidFill>
                  <a:srgbClr val="000000"/>
                </a:solidFill>
                <a:latin typeface="Hanuman Bold"/>
                <a:ea typeface="Hanuman Bold"/>
                <a:cs typeface="Hanuman Bold"/>
                <a:sym typeface="Hanuman Bold"/>
              </a:rPr>
              <a:t>           Dense</a:t>
            </a:r>
            <a:r>
              <a:rPr lang="en-US" b="true" sz="4588" strike="noStrike" u="none">
                <a:solidFill>
                  <a:srgbClr val="000000"/>
                </a:solidFill>
                <a:latin typeface="Hanuman Bold"/>
                <a:ea typeface="Hanuman Bold"/>
                <a:cs typeface="Hanuman Bold"/>
                <a:sym typeface="Hanuman Bold"/>
              </a:rPr>
              <a:t>(256, ReLU) + Dropout(0.2)</a:t>
            </a:r>
          </a:p>
          <a:p>
            <a:pPr algn="l">
              <a:lnSpc>
                <a:spcPts val="6424"/>
              </a:lnSpc>
            </a:pPr>
            <a:r>
              <a:rPr lang="en-US" b="true" sz="4588" strike="noStrike" u="none">
                <a:solidFill>
                  <a:srgbClr val="000000"/>
                </a:solidFill>
                <a:latin typeface="Hanuman Bold"/>
                <a:ea typeface="Hanuman Bold"/>
                <a:cs typeface="Hanuman Bold"/>
                <a:sym typeface="Hanuman Bold"/>
              </a:rPr>
              <a:t> </a:t>
            </a:r>
            <a:r>
              <a:rPr lang="en-US" b="true" sz="4588" strike="noStrike" u="none">
                <a:solidFill>
                  <a:srgbClr val="000000"/>
                </a:solidFill>
                <a:latin typeface="Hanuman Bold"/>
                <a:ea typeface="Hanuman Bold"/>
                <a:cs typeface="Hanuman Bold"/>
                <a:sym typeface="Hanuman Bold"/>
              </a:rPr>
              <a:t>           Dense</a:t>
            </a:r>
            <a:r>
              <a:rPr lang="en-US" b="true" sz="4588" strike="noStrike" u="none">
                <a:solidFill>
                  <a:srgbClr val="000000"/>
                </a:solidFill>
                <a:latin typeface="Hanuman Bold"/>
                <a:ea typeface="Hanuman Bold"/>
                <a:cs typeface="Hanuman Bold"/>
                <a:sym typeface="Hanuman Bold"/>
              </a:rPr>
              <a:t>(128, ReLU) + Dropout(0.2)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52445" y="7736570"/>
            <a:ext cx="9916465" cy="80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90720" indent="-495360" lvl="1">
              <a:lnSpc>
                <a:spcPts val="6424"/>
              </a:lnSpc>
              <a:buFont typeface="Arial"/>
              <a:buChar char="•"/>
            </a:pPr>
            <a:r>
              <a:rPr lang="en-US" b="true" sz="4588" strike="noStrike" u="none">
                <a:solidFill>
                  <a:srgbClr val="000000"/>
                </a:solidFill>
                <a:latin typeface="Hanuman Bold"/>
                <a:ea typeface="Hanuman Bold"/>
                <a:cs typeface="Hanuman Bold"/>
                <a:sym typeface="Hanuman Bold"/>
              </a:rPr>
              <a:t>Optimizer: Adam (LR = 0.001)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60574" y="8609696"/>
            <a:ext cx="9526161" cy="78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69131" indent="-484565" lvl="1">
              <a:lnSpc>
                <a:spcPts val="628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488" strike="noStrike" u="none">
                <a:solidFill>
                  <a:srgbClr val="000000"/>
                </a:solidFill>
                <a:latin typeface="Hanuman Bold"/>
                <a:ea typeface="Hanuman Bold"/>
                <a:cs typeface="Hanuman Bold"/>
                <a:sym typeface="Hanuman Bold"/>
              </a:rPr>
              <a:t>Early Stopping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560699">
            <a:off x="17437028" y="8739297"/>
            <a:ext cx="764527" cy="1103648"/>
          </a:xfrm>
          <a:custGeom>
            <a:avLst/>
            <a:gdLst/>
            <a:ahLst/>
            <a:cxnLst/>
            <a:rect r="r" b="b" t="t" l="l"/>
            <a:pathLst>
              <a:path h="1103648" w="764527">
                <a:moveTo>
                  <a:pt x="0" y="0"/>
                </a:moveTo>
                <a:lnTo>
                  <a:pt x="764527" y="0"/>
                </a:lnTo>
                <a:lnTo>
                  <a:pt x="764527" y="1103648"/>
                </a:lnTo>
                <a:lnTo>
                  <a:pt x="0" y="110364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660003">
            <a:off x="16430825" y="7422246"/>
            <a:ext cx="818498" cy="1160242"/>
          </a:xfrm>
          <a:custGeom>
            <a:avLst/>
            <a:gdLst/>
            <a:ahLst/>
            <a:cxnLst/>
            <a:rect r="r" b="b" t="t" l="l"/>
            <a:pathLst>
              <a:path h="1160242" w="818498">
                <a:moveTo>
                  <a:pt x="0" y="0"/>
                </a:moveTo>
                <a:lnTo>
                  <a:pt x="818498" y="0"/>
                </a:lnTo>
                <a:lnTo>
                  <a:pt x="818498" y="1160242"/>
                </a:lnTo>
                <a:lnTo>
                  <a:pt x="0" y="116024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660003">
            <a:off x="17233877" y="7261842"/>
            <a:ext cx="862798" cy="1160242"/>
          </a:xfrm>
          <a:custGeom>
            <a:avLst/>
            <a:gdLst/>
            <a:ahLst/>
            <a:cxnLst/>
            <a:rect r="r" b="b" t="t" l="l"/>
            <a:pathLst>
              <a:path h="1160242" w="862798">
                <a:moveTo>
                  <a:pt x="0" y="0"/>
                </a:moveTo>
                <a:lnTo>
                  <a:pt x="862798" y="0"/>
                </a:lnTo>
                <a:lnTo>
                  <a:pt x="862798" y="1160242"/>
                </a:lnTo>
                <a:lnTo>
                  <a:pt x="0" y="11602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3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7803" y="1936421"/>
            <a:ext cx="10178379" cy="7995895"/>
            <a:chOff x="0" y="0"/>
            <a:chExt cx="2571307" cy="20199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71308" cy="2019959"/>
            </a:xfrm>
            <a:custGeom>
              <a:avLst/>
              <a:gdLst/>
              <a:ahLst/>
              <a:cxnLst/>
              <a:rect r="r" b="b" t="t" l="l"/>
              <a:pathLst>
                <a:path h="2019959" w="2571308">
                  <a:moveTo>
                    <a:pt x="22058" y="0"/>
                  </a:moveTo>
                  <a:lnTo>
                    <a:pt x="2549249" y="0"/>
                  </a:lnTo>
                  <a:cubicBezTo>
                    <a:pt x="2561432" y="0"/>
                    <a:pt x="2571308" y="9876"/>
                    <a:pt x="2571308" y="22058"/>
                  </a:cubicBezTo>
                  <a:lnTo>
                    <a:pt x="2571308" y="1997901"/>
                  </a:lnTo>
                  <a:cubicBezTo>
                    <a:pt x="2571308" y="2003751"/>
                    <a:pt x="2568984" y="2009361"/>
                    <a:pt x="2564847" y="2013498"/>
                  </a:cubicBezTo>
                  <a:cubicBezTo>
                    <a:pt x="2560710" y="2017635"/>
                    <a:pt x="2555100" y="2019959"/>
                    <a:pt x="2549249" y="2019959"/>
                  </a:cubicBezTo>
                  <a:lnTo>
                    <a:pt x="22058" y="2019959"/>
                  </a:lnTo>
                  <a:cubicBezTo>
                    <a:pt x="16208" y="2019959"/>
                    <a:pt x="10597" y="2017635"/>
                    <a:pt x="6461" y="2013498"/>
                  </a:cubicBezTo>
                  <a:cubicBezTo>
                    <a:pt x="2324" y="2009361"/>
                    <a:pt x="0" y="2003751"/>
                    <a:pt x="0" y="1997901"/>
                  </a:cubicBezTo>
                  <a:lnTo>
                    <a:pt x="0" y="22058"/>
                  </a:lnTo>
                  <a:cubicBezTo>
                    <a:pt x="0" y="16208"/>
                    <a:pt x="2324" y="10597"/>
                    <a:pt x="6461" y="6461"/>
                  </a:cubicBezTo>
                  <a:cubicBezTo>
                    <a:pt x="10597" y="2324"/>
                    <a:pt x="16208" y="0"/>
                    <a:pt x="22058" y="0"/>
                  </a:cubicBezTo>
                  <a:close/>
                </a:path>
              </a:pathLst>
            </a:custGeom>
            <a:solidFill>
              <a:srgbClr val="F5F4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71307" cy="2058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80382" y="3206049"/>
            <a:ext cx="9447027" cy="6436897"/>
          </a:xfrm>
          <a:custGeom>
            <a:avLst/>
            <a:gdLst/>
            <a:ahLst/>
            <a:cxnLst/>
            <a:rect r="r" b="b" t="t" l="l"/>
            <a:pathLst>
              <a:path h="6436897" w="9447027">
                <a:moveTo>
                  <a:pt x="0" y="0"/>
                </a:moveTo>
                <a:lnTo>
                  <a:pt x="9447027" y="0"/>
                </a:lnTo>
                <a:lnTo>
                  <a:pt x="9447027" y="6436897"/>
                </a:lnTo>
                <a:lnTo>
                  <a:pt x="0" y="64368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38" r="-1894" b="-53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1879756" y="1860304"/>
            <a:ext cx="14367303" cy="103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Cl</a:t>
            </a:r>
            <a:r>
              <a:rPr lang="en-US" sz="6000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assification Report: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311254" y="4978714"/>
            <a:ext cx="339015" cy="295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8"/>
              </a:lnSpc>
              <a:spcBef>
                <a:spcPct val="0"/>
              </a:spcBef>
            </a:pPr>
            <a:r>
              <a:rPr lang="en-US" sz="1698" u="none">
                <a:solidFill>
                  <a:srgbClr val="784BAF"/>
                </a:solidFill>
                <a:latin typeface="Hanuman"/>
                <a:ea typeface="Hanuman"/>
                <a:cs typeface="Hanuman"/>
                <a:sym typeface="Hanuman"/>
              </a:rPr>
              <a:t>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48908"/>
            <a:ext cx="14367303" cy="1151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20"/>
              </a:lnSpc>
              <a:spcBef>
                <a:spcPct val="0"/>
              </a:spcBef>
            </a:pPr>
            <a:r>
              <a:rPr lang="en-US" sz="68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Model performance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177941" y="2898528"/>
            <a:ext cx="5673060" cy="6744418"/>
            <a:chOff x="0" y="0"/>
            <a:chExt cx="1433154" cy="17038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33154" cy="1703805"/>
            </a:xfrm>
            <a:custGeom>
              <a:avLst/>
              <a:gdLst/>
              <a:ahLst/>
              <a:cxnLst/>
              <a:rect r="r" b="b" t="t" l="l"/>
              <a:pathLst>
                <a:path h="1703805" w="1433154">
                  <a:moveTo>
                    <a:pt x="39576" y="0"/>
                  </a:moveTo>
                  <a:lnTo>
                    <a:pt x="1393578" y="0"/>
                  </a:lnTo>
                  <a:cubicBezTo>
                    <a:pt x="1415435" y="0"/>
                    <a:pt x="1433154" y="17719"/>
                    <a:pt x="1433154" y="39576"/>
                  </a:cubicBezTo>
                  <a:lnTo>
                    <a:pt x="1433154" y="1664229"/>
                  </a:lnTo>
                  <a:cubicBezTo>
                    <a:pt x="1433154" y="1674725"/>
                    <a:pt x="1428984" y="1684792"/>
                    <a:pt x="1421562" y="1692213"/>
                  </a:cubicBezTo>
                  <a:cubicBezTo>
                    <a:pt x="1414140" y="1699635"/>
                    <a:pt x="1404074" y="1703805"/>
                    <a:pt x="1393578" y="1703805"/>
                  </a:cubicBezTo>
                  <a:lnTo>
                    <a:pt x="39576" y="1703805"/>
                  </a:lnTo>
                  <a:cubicBezTo>
                    <a:pt x="29080" y="1703805"/>
                    <a:pt x="19013" y="1699635"/>
                    <a:pt x="11591" y="1692213"/>
                  </a:cubicBezTo>
                  <a:cubicBezTo>
                    <a:pt x="4170" y="1684792"/>
                    <a:pt x="0" y="1674725"/>
                    <a:pt x="0" y="1664229"/>
                  </a:cubicBezTo>
                  <a:lnTo>
                    <a:pt x="0" y="39576"/>
                  </a:lnTo>
                  <a:cubicBezTo>
                    <a:pt x="0" y="29080"/>
                    <a:pt x="4170" y="19013"/>
                    <a:pt x="11591" y="11591"/>
                  </a:cubicBezTo>
                  <a:cubicBezTo>
                    <a:pt x="19013" y="4170"/>
                    <a:pt x="29080" y="0"/>
                    <a:pt x="39576" y="0"/>
                  </a:cubicBezTo>
                  <a:close/>
                </a:path>
              </a:pathLst>
            </a:custGeom>
            <a:solidFill>
              <a:srgbClr val="F5F4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433154" cy="1741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355917" y="3825269"/>
            <a:ext cx="5317108" cy="5450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85"/>
              </a:lnSpc>
              <a:spcBef>
                <a:spcPct val="0"/>
              </a:spcBef>
            </a:pPr>
            <a:r>
              <a:rPr lang="en-US" b="true" sz="4418">
                <a:solidFill>
                  <a:srgbClr val="000000"/>
                </a:solidFill>
                <a:latin typeface="Hanuman Bold"/>
                <a:ea typeface="Hanuman Bold"/>
                <a:cs typeface="Hanuman Bold"/>
                <a:sym typeface="Hanuman Bold"/>
              </a:rPr>
              <a:t> </a:t>
            </a:r>
          </a:p>
          <a:p>
            <a:pPr algn="ctr">
              <a:lnSpc>
                <a:spcPts val="6185"/>
              </a:lnSpc>
              <a:spcBef>
                <a:spcPct val="0"/>
              </a:spcBef>
            </a:pPr>
            <a:r>
              <a:rPr lang="en-US" b="true" sz="4418">
                <a:solidFill>
                  <a:srgbClr val="000000"/>
                </a:solidFill>
                <a:latin typeface="Hanuman Bold"/>
                <a:ea typeface="Hanuman Bold"/>
                <a:cs typeface="Hanuman Bold"/>
                <a:sym typeface="Hanuman Bold"/>
              </a:rPr>
              <a:t>Training Accuracy was approximately </a:t>
            </a:r>
            <a:r>
              <a:rPr lang="en-US" b="true" sz="4418">
                <a:solidFill>
                  <a:srgbClr val="EC4A52"/>
                </a:solidFill>
                <a:latin typeface="Hanuman Bold"/>
                <a:ea typeface="Hanuman Bold"/>
                <a:cs typeface="Hanuman Bold"/>
                <a:sym typeface="Hanuman Bold"/>
              </a:rPr>
              <a:t>99% </a:t>
            </a:r>
          </a:p>
          <a:p>
            <a:pPr algn="ctr">
              <a:lnSpc>
                <a:spcPts val="6185"/>
              </a:lnSpc>
              <a:spcBef>
                <a:spcPct val="0"/>
              </a:spcBef>
            </a:pPr>
            <a:r>
              <a:rPr lang="en-US" b="true" sz="4418">
                <a:solidFill>
                  <a:srgbClr val="000000"/>
                </a:solidFill>
                <a:latin typeface="Hanuman Bold"/>
                <a:ea typeface="Hanuman Bold"/>
                <a:cs typeface="Hanuman Bold"/>
                <a:sym typeface="Hanuman Bold"/>
              </a:rPr>
              <a:t>Testing Accuracy was approximately </a:t>
            </a:r>
            <a:r>
              <a:rPr lang="en-US" sz="4418">
                <a:solidFill>
                  <a:srgbClr val="EC4A52"/>
                </a:solidFill>
                <a:latin typeface="Hanuman"/>
                <a:ea typeface="Hanuman"/>
                <a:cs typeface="Hanuman"/>
                <a:sym typeface="Hanuman"/>
              </a:rPr>
              <a:t>98%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30820" y="3112921"/>
            <a:ext cx="14367303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20"/>
              </a:lnSpc>
              <a:spcBef>
                <a:spcPct val="0"/>
              </a:spcBef>
            </a:pPr>
            <a:r>
              <a:rPr lang="en-US" sz="63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Accuracies: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3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32030" y="-454040"/>
            <a:ext cx="22352060" cy="11195080"/>
            <a:chOff x="0" y="0"/>
            <a:chExt cx="29802747" cy="14926774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14875974" y="0"/>
              <a:ext cx="14926774" cy="14926774"/>
            </a:xfrm>
            <a:custGeom>
              <a:avLst/>
              <a:gdLst/>
              <a:ahLst/>
              <a:cxnLst/>
              <a:rect r="r" b="b" t="t" l="l"/>
              <a:pathLst>
                <a:path h="14926774" w="14926774">
                  <a:moveTo>
                    <a:pt x="0" y="0"/>
                  </a:moveTo>
                  <a:lnTo>
                    <a:pt x="14926773" y="0"/>
                  </a:lnTo>
                  <a:lnTo>
                    <a:pt x="14926773" y="14926774"/>
                  </a:lnTo>
                  <a:lnTo>
                    <a:pt x="0" y="14926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0" y="0"/>
              <a:ext cx="14926774" cy="14926774"/>
            </a:xfrm>
            <a:custGeom>
              <a:avLst/>
              <a:gdLst/>
              <a:ahLst/>
              <a:cxnLst/>
              <a:rect r="r" b="b" t="t" l="l"/>
              <a:pathLst>
                <a:path h="14926774" w="14926774">
                  <a:moveTo>
                    <a:pt x="0" y="0"/>
                  </a:moveTo>
                  <a:lnTo>
                    <a:pt x="14926774" y="0"/>
                  </a:lnTo>
                  <a:lnTo>
                    <a:pt x="14926774" y="14926774"/>
                  </a:lnTo>
                  <a:lnTo>
                    <a:pt x="0" y="14926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1179608">
            <a:off x="-31783" y="2109683"/>
            <a:ext cx="1601231" cy="2361064"/>
          </a:xfrm>
          <a:custGeom>
            <a:avLst/>
            <a:gdLst/>
            <a:ahLst/>
            <a:cxnLst/>
            <a:rect r="r" b="b" t="t" l="l"/>
            <a:pathLst>
              <a:path h="2361064" w="1601231">
                <a:moveTo>
                  <a:pt x="0" y="0"/>
                </a:moveTo>
                <a:lnTo>
                  <a:pt x="1601230" y="0"/>
                </a:lnTo>
                <a:lnTo>
                  <a:pt x="1601230" y="2361064"/>
                </a:lnTo>
                <a:lnTo>
                  <a:pt x="0" y="23610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37205">
            <a:off x="165690" y="7641062"/>
            <a:ext cx="1726020" cy="2315392"/>
          </a:xfrm>
          <a:custGeom>
            <a:avLst/>
            <a:gdLst/>
            <a:ahLst/>
            <a:cxnLst/>
            <a:rect r="r" b="b" t="t" l="l"/>
            <a:pathLst>
              <a:path h="2315392" w="1726020">
                <a:moveTo>
                  <a:pt x="0" y="0"/>
                </a:moveTo>
                <a:lnTo>
                  <a:pt x="1726020" y="0"/>
                </a:lnTo>
                <a:lnTo>
                  <a:pt x="1726020" y="2315392"/>
                </a:lnTo>
                <a:lnTo>
                  <a:pt x="0" y="23153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60448">
            <a:off x="5826827" y="8241833"/>
            <a:ext cx="1595832" cy="2262133"/>
          </a:xfrm>
          <a:custGeom>
            <a:avLst/>
            <a:gdLst/>
            <a:ahLst/>
            <a:cxnLst/>
            <a:rect r="r" b="b" t="t" l="l"/>
            <a:pathLst>
              <a:path h="2262133" w="1595832">
                <a:moveTo>
                  <a:pt x="0" y="0"/>
                </a:moveTo>
                <a:lnTo>
                  <a:pt x="1595833" y="0"/>
                </a:lnTo>
                <a:lnTo>
                  <a:pt x="1595833" y="2262133"/>
                </a:lnTo>
                <a:lnTo>
                  <a:pt x="0" y="22621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441563">
            <a:off x="11935615" y="8229600"/>
            <a:ext cx="1909624" cy="2288221"/>
          </a:xfrm>
          <a:custGeom>
            <a:avLst/>
            <a:gdLst/>
            <a:ahLst/>
            <a:cxnLst/>
            <a:rect r="r" b="b" t="t" l="l"/>
            <a:pathLst>
              <a:path h="2288221" w="1909624">
                <a:moveTo>
                  <a:pt x="0" y="0"/>
                </a:moveTo>
                <a:lnTo>
                  <a:pt x="1909624" y="0"/>
                </a:lnTo>
                <a:lnTo>
                  <a:pt x="1909624" y="2288221"/>
                </a:lnTo>
                <a:lnTo>
                  <a:pt x="0" y="22882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875697">
            <a:off x="16888773" y="6399337"/>
            <a:ext cx="1697776" cy="2450858"/>
          </a:xfrm>
          <a:custGeom>
            <a:avLst/>
            <a:gdLst/>
            <a:ahLst/>
            <a:cxnLst/>
            <a:rect r="r" b="b" t="t" l="l"/>
            <a:pathLst>
              <a:path h="2450858" w="1697776">
                <a:moveTo>
                  <a:pt x="0" y="0"/>
                </a:moveTo>
                <a:lnTo>
                  <a:pt x="1697776" y="0"/>
                </a:lnTo>
                <a:lnTo>
                  <a:pt x="1697776" y="2450858"/>
                </a:lnTo>
                <a:lnTo>
                  <a:pt x="0" y="24508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381185">
            <a:off x="16249750" y="171617"/>
            <a:ext cx="1761264" cy="2368447"/>
          </a:xfrm>
          <a:custGeom>
            <a:avLst/>
            <a:gdLst/>
            <a:ahLst/>
            <a:cxnLst/>
            <a:rect r="r" b="b" t="t" l="l"/>
            <a:pathLst>
              <a:path h="2368447" w="1761264">
                <a:moveTo>
                  <a:pt x="0" y="0"/>
                </a:moveTo>
                <a:lnTo>
                  <a:pt x="1761263" y="0"/>
                </a:lnTo>
                <a:lnTo>
                  <a:pt x="1761263" y="2368448"/>
                </a:lnTo>
                <a:lnTo>
                  <a:pt x="0" y="236844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814235">
            <a:off x="11029412" y="-194797"/>
            <a:ext cx="1535032" cy="2215926"/>
          </a:xfrm>
          <a:custGeom>
            <a:avLst/>
            <a:gdLst/>
            <a:ahLst/>
            <a:cxnLst/>
            <a:rect r="r" b="b" t="t" l="l"/>
            <a:pathLst>
              <a:path h="2215926" w="1535032">
                <a:moveTo>
                  <a:pt x="0" y="0"/>
                </a:moveTo>
                <a:lnTo>
                  <a:pt x="1535033" y="0"/>
                </a:lnTo>
                <a:lnTo>
                  <a:pt x="1535033" y="2215926"/>
                </a:lnTo>
                <a:lnTo>
                  <a:pt x="0" y="221592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673014" y="-405236"/>
            <a:ext cx="1687393" cy="2314379"/>
          </a:xfrm>
          <a:custGeom>
            <a:avLst/>
            <a:gdLst/>
            <a:ahLst/>
            <a:cxnLst/>
            <a:rect r="r" b="b" t="t" l="l"/>
            <a:pathLst>
              <a:path h="2314379" w="1687393">
                <a:moveTo>
                  <a:pt x="0" y="0"/>
                </a:moveTo>
                <a:lnTo>
                  <a:pt x="1687393" y="0"/>
                </a:lnTo>
                <a:lnTo>
                  <a:pt x="1687393" y="2314379"/>
                </a:lnTo>
                <a:lnTo>
                  <a:pt x="0" y="231437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134454" y="4105795"/>
            <a:ext cx="12019092" cy="1865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281"/>
              </a:lnSpc>
              <a:spcBef>
                <a:spcPct val="0"/>
              </a:spcBef>
            </a:pPr>
            <a:r>
              <a:rPr lang="en-US" sz="10915" strike="noStrike" u="none">
                <a:solidFill>
                  <a:srgbClr val="000100"/>
                </a:solidFill>
                <a:latin typeface="Alice Bold"/>
                <a:ea typeface="Alice Bold"/>
                <a:cs typeface="Alice Bold"/>
                <a:sym typeface="Alice Bold"/>
              </a:rPr>
              <a:t>Gradio App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3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3145965" y="-77989"/>
            <a:ext cx="11195080" cy="11195080"/>
          </a:xfrm>
          <a:custGeom>
            <a:avLst/>
            <a:gdLst/>
            <a:ahLst/>
            <a:cxnLst/>
            <a:rect r="r" b="b" t="t" l="l"/>
            <a:pathLst>
              <a:path h="11195080" w="11195080">
                <a:moveTo>
                  <a:pt x="0" y="0"/>
                </a:moveTo>
                <a:lnTo>
                  <a:pt x="11195080" y="0"/>
                </a:lnTo>
                <a:lnTo>
                  <a:pt x="11195080" y="11195080"/>
                </a:lnTo>
                <a:lnTo>
                  <a:pt x="0" y="11195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8049115" y="-454040"/>
            <a:ext cx="11195080" cy="11195080"/>
          </a:xfrm>
          <a:custGeom>
            <a:avLst/>
            <a:gdLst/>
            <a:ahLst/>
            <a:cxnLst/>
            <a:rect r="r" b="b" t="t" l="l"/>
            <a:pathLst>
              <a:path h="11195080" w="11195080">
                <a:moveTo>
                  <a:pt x="0" y="0"/>
                </a:moveTo>
                <a:lnTo>
                  <a:pt x="11195080" y="0"/>
                </a:lnTo>
                <a:lnTo>
                  <a:pt x="11195080" y="11195080"/>
                </a:lnTo>
                <a:lnTo>
                  <a:pt x="0" y="11195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8009" y="2684012"/>
            <a:ext cx="9175794" cy="7258024"/>
          </a:xfrm>
          <a:custGeom>
            <a:avLst/>
            <a:gdLst/>
            <a:ahLst/>
            <a:cxnLst/>
            <a:rect r="r" b="b" t="t" l="l"/>
            <a:pathLst>
              <a:path h="7258024" w="9175794">
                <a:moveTo>
                  <a:pt x="0" y="0"/>
                </a:moveTo>
                <a:lnTo>
                  <a:pt x="9175794" y="0"/>
                </a:lnTo>
                <a:lnTo>
                  <a:pt x="9175794" y="7258024"/>
                </a:lnTo>
                <a:lnTo>
                  <a:pt x="0" y="72580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926201" y="5462401"/>
            <a:ext cx="325898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u="none">
                <a:solidFill>
                  <a:srgbClr val="FFFFFF"/>
                </a:solidFill>
                <a:latin typeface="Hanuman Bold"/>
                <a:ea typeface="Hanuman Bold"/>
                <a:cs typeface="Hanuman Bold"/>
                <a:sym typeface="Hanuman Bold"/>
              </a:rPr>
              <a:t>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77423" y="4276836"/>
            <a:ext cx="6581877" cy="3370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1"/>
              </a:lnSpc>
              <a:spcBef>
                <a:spcPct val="0"/>
              </a:spcBef>
            </a:pPr>
            <a:r>
              <a:rPr lang="en-US" sz="4281">
                <a:solidFill>
                  <a:srgbClr val="000000"/>
                </a:solidFill>
                <a:latin typeface="Hanuman"/>
                <a:ea typeface="Hanuman"/>
                <a:cs typeface="Hanuman"/>
                <a:sym typeface="Hanuman"/>
              </a:rPr>
              <a:t>First, the user draws a number on the sketchpad and then clicks the Predict button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10800000">
            <a:off x="9144000" y="8010525"/>
            <a:ext cx="3067202" cy="866485"/>
          </a:xfrm>
          <a:custGeom>
            <a:avLst/>
            <a:gdLst/>
            <a:ahLst/>
            <a:cxnLst/>
            <a:rect r="r" b="b" t="t" l="l"/>
            <a:pathLst>
              <a:path h="866485" w="3067202">
                <a:moveTo>
                  <a:pt x="0" y="0"/>
                </a:moveTo>
                <a:lnTo>
                  <a:pt x="3067202" y="0"/>
                </a:lnTo>
                <a:lnTo>
                  <a:pt x="3067202" y="866485"/>
                </a:lnTo>
                <a:lnTo>
                  <a:pt x="0" y="8664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339637" y="680302"/>
            <a:ext cx="9039824" cy="1407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493"/>
              </a:lnSpc>
              <a:spcBef>
                <a:spcPct val="0"/>
              </a:spcBef>
            </a:pPr>
            <a:r>
              <a:rPr lang="en-US" sz="8209">
                <a:solidFill>
                  <a:srgbClr val="000100"/>
                </a:solidFill>
                <a:latin typeface="Alice Bold"/>
                <a:ea typeface="Alice Bold"/>
                <a:cs typeface="Alice Bold"/>
                <a:sym typeface="Alice Bold"/>
              </a:rPr>
              <a:t>what digit is it?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3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83710" y="-604217"/>
            <a:ext cx="22352060" cy="11195080"/>
            <a:chOff x="0" y="0"/>
            <a:chExt cx="29802747" cy="14926774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14875974" y="0"/>
              <a:ext cx="14926774" cy="14926774"/>
            </a:xfrm>
            <a:custGeom>
              <a:avLst/>
              <a:gdLst/>
              <a:ahLst/>
              <a:cxnLst/>
              <a:rect r="r" b="b" t="t" l="l"/>
              <a:pathLst>
                <a:path h="14926774" w="14926774">
                  <a:moveTo>
                    <a:pt x="0" y="0"/>
                  </a:moveTo>
                  <a:lnTo>
                    <a:pt x="14926773" y="0"/>
                  </a:lnTo>
                  <a:lnTo>
                    <a:pt x="14926773" y="14926774"/>
                  </a:lnTo>
                  <a:lnTo>
                    <a:pt x="0" y="14926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0" y="0"/>
              <a:ext cx="14926774" cy="14926774"/>
            </a:xfrm>
            <a:custGeom>
              <a:avLst/>
              <a:gdLst/>
              <a:ahLst/>
              <a:cxnLst/>
              <a:rect r="r" b="b" t="t" l="l"/>
              <a:pathLst>
                <a:path h="14926774" w="14926774">
                  <a:moveTo>
                    <a:pt x="0" y="0"/>
                  </a:moveTo>
                  <a:lnTo>
                    <a:pt x="14926774" y="0"/>
                  </a:lnTo>
                  <a:lnTo>
                    <a:pt x="14926774" y="14926774"/>
                  </a:lnTo>
                  <a:lnTo>
                    <a:pt x="0" y="14926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7909063" y="2606084"/>
            <a:ext cx="9350237" cy="7275847"/>
          </a:xfrm>
          <a:custGeom>
            <a:avLst/>
            <a:gdLst/>
            <a:ahLst/>
            <a:cxnLst/>
            <a:rect r="r" b="b" t="t" l="l"/>
            <a:pathLst>
              <a:path h="7275847" w="9350237">
                <a:moveTo>
                  <a:pt x="0" y="0"/>
                </a:moveTo>
                <a:lnTo>
                  <a:pt x="9350237" y="0"/>
                </a:lnTo>
                <a:lnTo>
                  <a:pt x="9350237" y="7275847"/>
                </a:lnTo>
                <a:lnTo>
                  <a:pt x="0" y="72758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926201" y="5462401"/>
            <a:ext cx="325898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u="none">
                <a:solidFill>
                  <a:srgbClr val="FFFFFF"/>
                </a:solidFill>
                <a:latin typeface="Hanuman Bold"/>
                <a:ea typeface="Hanuman Bold"/>
                <a:cs typeface="Hanuman Bold"/>
                <a:sym typeface="Hanuman Bold"/>
              </a:rPr>
              <a:t>C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06270" y="579345"/>
            <a:ext cx="9039824" cy="1407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493"/>
              </a:lnSpc>
              <a:spcBef>
                <a:spcPct val="0"/>
              </a:spcBef>
            </a:pPr>
            <a:r>
              <a:rPr lang="en-US" sz="8209">
                <a:solidFill>
                  <a:srgbClr val="000100"/>
                </a:solidFill>
                <a:latin typeface="Alice Bold"/>
                <a:ea typeface="Alice Bold"/>
                <a:cs typeface="Alice Bold"/>
                <a:sym typeface="Alice Bold"/>
              </a:rPr>
              <a:t>Model predection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812421"/>
            <a:ext cx="5921595" cy="421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1"/>
              </a:lnSpc>
              <a:spcBef>
                <a:spcPct val="0"/>
              </a:spcBef>
            </a:pPr>
            <a:r>
              <a:rPr lang="en-US" sz="4281" strike="noStrike" u="none">
                <a:solidFill>
                  <a:srgbClr val="000000"/>
                </a:solidFill>
                <a:latin typeface="Hanuman"/>
                <a:ea typeface="Hanuman"/>
                <a:cs typeface="Hanuman"/>
                <a:sym typeface="Hanuman"/>
              </a:rPr>
              <a:t>The output will display the model's top ten predictions along with the confidence percentage for each.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3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32030" y="-454040"/>
            <a:ext cx="22352060" cy="11195080"/>
            <a:chOff x="0" y="0"/>
            <a:chExt cx="29802747" cy="14926774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14875974" y="0"/>
              <a:ext cx="14926774" cy="14926774"/>
            </a:xfrm>
            <a:custGeom>
              <a:avLst/>
              <a:gdLst/>
              <a:ahLst/>
              <a:cxnLst/>
              <a:rect r="r" b="b" t="t" l="l"/>
              <a:pathLst>
                <a:path h="14926774" w="14926774">
                  <a:moveTo>
                    <a:pt x="0" y="0"/>
                  </a:moveTo>
                  <a:lnTo>
                    <a:pt x="14926773" y="0"/>
                  </a:lnTo>
                  <a:lnTo>
                    <a:pt x="14926773" y="14926774"/>
                  </a:lnTo>
                  <a:lnTo>
                    <a:pt x="0" y="14926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0" y="0"/>
              <a:ext cx="14926774" cy="14926774"/>
            </a:xfrm>
            <a:custGeom>
              <a:avLst/>
              <a:gdLst/>
              <a:ahLst/>
              <a:cxnLst/>
              <a:rect r="r" b="b" t="t" l="l"/>
              <a:pathLst>
                <a:path h="14926774" w="14926774">
                  <a:moveTo>
                    <a:pt x="0" y="0"/>
                  </a:moveTo>
                  <a:lnTo>
                    <a:pt x="14926774" y="0"/>
                  </a:lnTo>
                  <a:lnTo>
                    <a:pt x="14926774" y="14926774"/>
                  </a:lnTo>
                  <a:lnTo>
                    <a:pt x="0" y="14926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1179608">
            <a:off x="-31783" y="2109683"/>
            <a:ext cx="1601231" cy="2361064"/>
          </a:xfrm>
          <a:custGeom>
            <a:avLst/>
            <a:gdLst/>
            <a:ahLst/>
            <a:cxnLst/>
            <a:rect r="r" b="b" t="t" l="l"/>
            <a:pathLst>
              <a:path h="2361064" w="1601231">
                <a:moveTo>
                  <a:pt x="0" y="0"/>
                </a:moveTo>
                <a:lnTo>
                  <a:pt x="1601230" y="0"/>
                </a:lnTo>
                <a:lnTo>
                  <a:pt x="1601230" y="2361064"/>
                </a:lnTo>
                <a:lnTo>
                  <a:pt x="0" y="23610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37205">
            <a:off x="165690" y="7641062"/>
            <a:ext cx="1726020" cy="2315392"/>
          </a:xfrm>
          <a:custGeom>
            <a:avLst/>
            <a:gdLst/>
            <a:ahLst/>
            <a:cxnLst/>
            <a:rect r="r" b="b" t="t" l="l"/>
            <a:pathLst>
              <a:path h="2315392" w="1726020">
                <a:moveTo>
                  <a:pt x="0" y="0"/>
                </a:moveTo>
                <a:lnTo>
                  <a:pt x="1726020" y="0"/>
                </a:lnTo>
                <a:lnTo>
                  <a:pt x="1726020" y="2315392"/>
                </a:lnTo>
                <a:lnTo>
                  <a:pt x="0" y="23153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60448">
            <a:off x="5826827" y="8241833"/>
            <a:ext cx="1595832" cy="2262133"/>
          </a:xfrm>
          <a:custGeom>
            <a:avLst/>
            <a:gdLst/>
            <a:ahLst/>
            <a:cxnLst/>
            <a:rect r="r" b="b" t="t" l="l"/>
            <a:pathLst>
              <a:path h="2262133" w="1595832">
                <a:moveTo>
                  <a:pt x="0" y="0"/>
                </a:moveTo>
                <a:lnTo>
                  <a:pt x="1595833" y="0"/>
                </a:lnTo>
                <a:lnTo>
                  <a:pt x="1595833" y="2262133"/>
                </a:lnTo>
                <a:lnTo>
                  <a:pt x="0" y="22621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441563">
            <a:off x="11935615" y="8229600"/>
            <a:ext cx="1909624" cy="2288221"/>
          </a:xfrm>
          <a:custGeom>
            <a:avLst/>
            <a:gdLst/>
            <a:ahLst/>
            <a:cxnLst/>
            <a:rect r="r" b="b" t="t" l="l"/>
            <a:pathLst>
              <a:path h="2288221" w="1909624">
                <a:moveTo>
                  <a:pt x="0" y="0"/>
                </a:moveTo>
                <a:lnTo>
                  <a:pt x="1909624" y="0"/>
                </a:lnTo>
                <a:lnTo>
                  <a:pt x="1909624" y="2288221"/>
                </a:lnTo>
                <a:lnTo>
                  <a:pt x="0" y="22882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875697">
            <a:off x="16888773" y="6399337"/>
            <a:ext cx="1697776" cy="2450858"/>
          </a:xfrm>
          <a:custGeom>
            <a:avLst/>
            <a:gdLst/>
            <a:ahLst/>
            <a:cxnLst/>
            <a:rect r="r" b="b" t="t" l="l"/>
            <a:pathLst>
              <a:path h="2450858" w="1697776">
                <a:moveTo>
                  <a:pt x="0" y="0"/>
                </a:moveTo>
                <a:lnTo>
                  <a:pt x="1697776" y="0"/>
                </a:lnTo>
                <a:lnTo>
                  <a:pt x="1697776" y="2450858"/>
                </a:lnTo>
                <a:lnTo>
                  <a:pt x="0" y="24508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381185">
            <a:off x="16249750" y="171617"/>
            <a:ext cx="1761264" cy="2368447"/>
          </a:xfrm>
          <a:custGeom>
            <a:avLst/>
            <a:gdLst/>
            <a:ahLst/>
            <a:cxnLst/>
            <a:rect r="r" b="b" t="t" l="l"/>
            <a:pathLst>
              <a:path h="2368447" w="1761264">
                <a:moveTo>
                  <a:pt x="0" y="0"/>
                </a:moveTo>
                <a:lnTo>
                  <a:pt x="1761263" y="0"/>
                </a:lnTo>
                <a:lnTo>
                  <a:pt x="1761263" y="2368448"/>
                </a:lnTo>
                <a:lnTo>
                  <a:pt x="0" y="236844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814235">
            <a:off x="11029412" y="-194797"/>
            <a:ext cx="1535032" cy="2215926"/>
          </a:xfrm>
          <a:custGeom>
            <a:avLst/>
            <a:gdLst/>
            <a:ahLst/>
            <a:cxnLst/>
            <a:rect r="r" b="b" t="t" l="l"/>
            <a:pathLst>
              <a:path h="2215926" w="1535032">
                <a:moveTo>
                  <a:pt x="0" y="0"/>
                </a:moveTo>
                <a:lnTo>
                  <a:pt x="1535033" y="0"/>
                </a:lnTo>
                <a:lnTo>
                  <a:pt x="1535033" y="2215926"/>
                </a:lnTo>
                <a:lnTo>
                  <a:pt x="0" y="221592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673014" y="-405236"/>
            <a:ext cx="1687393" cy="2314379"/>
          </a:xfrm>
          <a:custGeom>
            <a:avLst/>
            <a:gdLst/>
            <a:ahLst/>
            <a:cxnLst/>
            <a:rect r="r" b="b" t="t" l="l"/>
            <a:pathLst>
              <a:path h="2314379" w="1687393">
                <a:moveTo>
                  <a:pt x="0" y="0"/>
                </a:moveTo>
                <a:lnTo>
                  <a:pt x="1687393" y="0"/>
                </a:lnTo>
                <a:lnTo>
                  <a:pt x="1687393" y="2314379"/>
                </a:lnTo>
                <a:lnTo>
                  <a:pt x="0" y="231437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134454" y="4105795"/>
            <a:ext cx="12019092" cy="1865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281"/>
              </a:lnSpc>
              <a:spcBef>
                <a:spcPct val="0"/>
              </a:spcBef>
            </a:pPr>
            <a:r>
              <a:rPr lang="en-US" sz="10915">
                <a:solidFill>
                  <a:srgbClr val="000100"/>
                </a:solidFill>
                <a:latin typeface="Alice Bold"/>
                <a:ea typeface="Alice Bold"/>
                <a:cs typeface="Alice Bold"/>
                <a:sym typeface="Alice Bold"/>
              </a:rPr>
              <a:t>what went wrong?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3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5266" y="-454040"/>
            <a:ext cx="22352060" cy="11195080"/>
            <a:chOff x="0" y="0"/>
            <a:chExt cx="29802747" cy="14926774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14875974" y="0"/>
              <a:ext cx="14926774" cy="14926774"/>
            </a:xfrm>
            <a:custGeom>
              <a:avLst/>
              <a:gdLst/>
              <a:ahLst/>
              <a:cxnLst/>
              <a:rect r="r" b="b" t="t" l="l"/>
              <a:pathLst>
                <a:path h="14926774" w="14926774">
                  <a:moveTo>
                    <a:pt x="0" y="0"/>
                  </a:moveTo>
                  <a:lnTo>
                    <a:pt x="14926773" y="0"/>
                  </a:lnTo>
                  <a:lnTo>
                    <a:pt x="14926773" y="14926774"/>
                  </a:lnTo>
                  <a:lnTo>
                    <a:pt x="0" y="14926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0" y="0"/>
              <a:ext cx="14926774" cy="14926774"/>
            </a:xfrm>
            <a:custGeom>
              <a:avLst/>
              <a:gdLst/>
              <a:ahLst/>
              <a:cxnLst/>
              <a:rect r="r" b="b" t="t" l="l"/>
              <a:pathLst>
                <a:path h="14926774" w="14926774">
                  <a:moveTo>
                    <a:pt x="0" y="0"/>
                  </a:moveTo>
                  <a:lnTo>
                    <a:pt x="14926774" y="0"/>
                  </a:lnTo>
                  <a:lnTo>
                    <a:pt x="14926774" y="14926774"/>
                  </a:lnTo>
                  <a:lnTo>
                    <a:pt x="0" y="14926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761284" y="7228872"/>
            <a:ext cx="10765431" cy="807064"/>
            <a:chOff x="0" y="0"/>
            <a:chExt cx="2835340" cy="212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35340" cy="212560"/>
            </a:xfrm>
            <a:custGeom>
              <a:avLst/>
              <a:gdLst/>
              <a:ahLst/>
              <a:cxnLst/>
              <a:rect r="r" b="b" t="t" l="l"/>
              <a:pathLst>
                <a:path h="212560" w="2835340">
                  <a:moveTo>
                    <a:pt x="20855" y="0"/>
                  </a:moveTo>
                  <a:lnTo>
                    <a:pt x="2814485" y="0"/>
                  </a:lnTo>
                  <a:cubicBezTo>
                    <a:pt x="2826003" y="0"/>
                    <a:pt x="2835340" y="9337"/>
                    <a:pt x="2835340" y="20855"/>
                  </a:cubicBezTo>
                  <a:lnTo>
                    <a:pt x="2835340" y="191705"/>
                  </a:lnTo>
                  <a:cubicBezTo>
                    <a:pt x="2835340" y="197236"/>
                    <a:pt x="2833143" y="202541"/>
                    <a:pt x="2829232" y="206452"/>
                  </a:cubicBezTo>
                  <a:cubicBezTo>
                    <a:pt x="2825320" y="210363"/>
                    <a:pt x="2820016" y="212560"/>
                    <a:pt x="2814485" y="212560"/>
                  </a:cubicBezTo>
                  <a:lnTo>
                    <a:pt x="20855" y="212560"/>
                  </a:lnTo>
                  <a:cubicBezTo>
                    <a:pt x="15324" y="212560"/>
                    <a:pt x="10019" y="210363"/>
                    <a:pt x="6108" y="206452"/>
                  </a:cubicBezTo>
                  <a:cubicBezTo>
                    <a:pt x="2197" y="202541"/>
                    <a:pt x="0" y="197236"/>
                    <a:pt x="0" y="191705"/>
                  </a:cubicBezTo>
                  <a:lnTo>
                    <a:pt x="0" y="20855"/>
                  </a:lnTo>
                  <a:cubicBezTo>
                    <a:pt x="0" y="15324"/>
                    <a:pt x="2197" y="10019"/>
                    <a:pt x="6108" y="6108"/>
                  </a:cubicBezTo>
                  <a:cubicBezTo>
                    <a:pt x="10019" y="2197"/>
                    <a:pt x="15324" y="0"/>
                    <a:pt x="20855" y="0"/>
                  </a:cubicBezTo>
                  <a:close/>
                </a:path>
              </a:pathLst>
            </a:custGeom>
            <a:solidFill>
              <a:srgbClr val="F5F4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835340" cy="269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r>
                <a:rPr lang="en-US" sz="2899">
                  <a:solidFill>
                    <a:srgbClr val="BD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AttributeError: 'dict' object has no attribute 'reshape'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67781" y="1866306"/>
            <a:ext cx="924757" cy="924757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42816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8700" y="502573"/>
            <a:ext cx="16230600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99"/>
              </a:lnSpc>
              <a:spcBef>
                <a:spcPct val="0"/>
              </a:spcBef>
            </a:pPr>
            <a:r>
              <a:rPr lang="en-US" sz="6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OBSTACLE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856936">
            <a:off x="15220514" y="281230"/>
            <a:ext cx="2182092" cy="1868664"/>
          </a:xfrm>
          <a:custGeom>
            <a:avLst/>
            <a:gdLst/>
            <a:ahLst/>
            <a:cxnLst/>
            <a:rect r="r" b="b" t="t" l="l"/>
            <a:pathLst>
              <a:path h="1868664" w="2182092">
                <a:moveTo>
                  <a:pt x="0" y="0"/>
                </a:moveTo>
                <a:lnTo>
                  <a:pt x="2182092" y="0"/>
                </a:lnTo>
                <a:lnTo>
                  <a:pt x="2182092" y="1868664"/>
                </a:lnTo>
                <a:lnTo>
                  <a:pt x="0" y="18686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761284" y="3267162"/>
            <a:ext cx="10765431" cy="3752677"/>
          </a:xfrm>
          <a:custGeom>
            <a:avLst/>
            <a:gdLst/>
            <a:ahLst/>
            <a:cxnLst/>
            <a:rect r="r" b="b" t="t" l="l"/>
            <a:pathLst>
              <a:path h="3752677" w="10765431">
                <a:moveTo>
                  <a:pt x="0" y="0"/>
                </a:moveTo>
                <a:lnTo>
                  <a:pt x="10765432" y="0"/>
                </a:lnTo>
                <a:lnTo>
                  <a:pt x="10765432" y="3752676"/>
                </a:lnTo>
                <a:lnTo>
                  <a:pt x="0" y="37526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541" r="0" b="-3527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728533" y="1844497"/>
            <a:ext cx="11419861" cy="880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39"/>
              </a:lnSpc>
              <a:spcBef>
                <a:spcPct val="0"/>
              </a:spcBef>
            </a:pPr>
            <a:r>
              <a:rPr lang="en-US" b="true" sz="5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gradio output returns error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67781" y="1848746"/>
            <a:ext cx="924757" cy="901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7497"/>
              </a:lnSpc>
              <a:spcBef>
                <a:spcPct val="0"/>
              </a:spcBef>
            </a:pPr>
            <a:r>
              <a:rPr lang="en-US" b="true" sz="4775" u="none">
                <a:solidFill>
                  <a:srgbClr val="F1E6B8"/>
                </a:solidFill>
                <a:latin typeface="Hanuman Bold"/>
                <a:ea typeface="Hanuman Bold"/>
                <a:cs typeface="Hanuman Bold"/>
                <a:sym typeface="Hanuman Bold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-5822762" y="8612505"/>
            <a:ext cx="16230600" cy="1167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60"/>
              </a:lnSpc>
              <a:spcBef>
                <a:spcPct val="0"/>
              </a:spcBef>
            </a:pPr>
            <a:r>
              <a:rPr lang="en-US" sz="69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FIX: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150850" y="8397887"/>
            <a:ext cx="13108450" cy="1670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1"/>
              </a:lnSpc>
              <a:spcBef>
                <a:spcPct val="0"/>
              </a:spcBef>
            </a:pPr>
            <a:r>
              <a:rPr lang="en-US" b="true" sz="4281">
                <a:solidFill>
                  <a:srgbClr val="000000"/>
                </a:solidFill>
                <a:latin typeface="Hanuman Bold"/>
                <a:ea typeface="Hanuman Bold"/>
                <a:cs typeface="Hanuman Bold"/>
                <a:sym typeface="Hanuman Bold"/>
              </a:rPr>
              <a:t>A</a:t>
            </a:r>
            <a:r>
              <a:rPr lang="en-US" b="true" sz="4281">
                <a:solidFill>
                  <a:srgbClr val="000000"/>
                </a:solidFill>
                <a:latin typeface="Hanuman Bold"/>
                <a:ea typeface="Hanuman Bold"/>
                <a:cs typeface="Hanuman Bold"/>
                <a:sym typeface="Hanuman Bold"/>
              </a:rPr>
              <a:t>djusted the prediction function to handfle both PIL image or Dictionary inputs on sketchpad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856936">
            <a:off x="15166042" y="351153"/>
            <a:ext cx="2084947" cy="1785473"/>
          </a:xfrm>
          <a:custGeom>
            <a:avLst/>
            <a:gdLst/>
            <a:ahLst/>
            <a:cxnLst/>
            <a:rect r="r" b="b" t="t" l="l"/>
            <a:pathLst>
              <a:path h="1785473" w="2084947">
                <a:moveTo>
                  <a:pt x="0" y="0"/>
                </a:moveTo>
                <a:lnTo>
                  <a:pt x="2084947" y="0"/>
                </a:lnTo>
                <a:lnTo>
                  <a:pt x="2084947" y="1785473"/>
                </a:lnTo>
                <a:lnTo>
                  <a:pt x="0" y="17854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3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33533" y="-454040"/>
            <a:ext cx="22352060" cy="11195080"/>
            <a:chOff x="0" y="0"/>
            <a:chExt cx="29802747" cy="14926774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14875974" y="0"/>
              <a:ext cx="14926774" cy="14926774"/>
            </a:xfrm>
            <a:custGeom>
              <a:avLst/>
              <a:gdLst/>
              <a:ahLst/>
              <a:cxnLst/>
              <a:rect r="r" b="b" t="t" l="l"/>
              <a:pathLst>
                <a:path h="14926774" w="14926774">
                  <a:moveTo>
                    <a:pt x="0" y="0"/>
                  </a:moveTo>
                  <a:lnTo>
                    <a:pt x="14926773" y="0"/>
                  </a:lnTo>
                  <a:lnTo>
                    <a:pt x="14926773" y="14926774"/>
                  </a:lnTo>
                  <a:lnTo>
                    <a:pt x="0" y="14926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0" y="0"/>
              <a:ext cx="14926774" cy="14926774"/>
            </a:xfrm>
            <a:custGeom>
              <a:avLst/>
              <a:gdLst/>
              <a:ahLst/>
              <a:cxnLst/>
              <a:rect r="r" b="b" t="t" l="l"/>
              <a:pathLst>
                <a:path h="14926774" w="14926774">
                  <a:moveTo>
                    <a:pt x="0" y="0"/>
                  </a:moveTo>
                  <a:lnTo>
                    <a:pt x="14926774" y="0"/>
                  </a:lnTo>
                  <a:lnTo>
                    <a:pt x="14926774" y="14926774"/>
                  </a:lnTo>
                  <a:lnTo>
                    <a:pt x="0" y="14926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663260"/>
            <a:ext cx="16230600" cy="1167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60"/>
              </a:lnSpc>
              <a:spcBef>
                <a:spcPct val="0"/>
              </a:spcBef>
            </a:pPr>
            <a:r>
              <a:rPr lang="en-US" sz="69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OBSTACLES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926201" y="5462401"/>
            <a:ext cx="325898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u="none">
                <a:solidFill>
                  <a:srgbClr val="FFFFFF"/>
                </a:solidFill>
                <a:latin typeface="Hanuman Bold"/>
                <a:ea typeface="Hanuman Bold"/>
                <a:cs typeface="Hanuman Bold"/>
                <a:sym typeface="Hanuman Bold"/>
              </a:rPr>
              <a:t>C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29681" y="2405701"/>
            <a:ext cx="924757" cy="924757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42816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329681" y="2388140"/>
            <a:ext cx="924757" cy="901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7497"/>
              </a:lnSpc>
              <a:spcBef>
                <a:spcPct val="0"/>
              </a:spcBef>
            </a:pPr>
            <a:r>
              <a:rPr lang="en-US" b="true" sz="4775" u="none">
                <a:solidFill>
                  <a:srgbClr val="F1E6B8"/>
                </a:solidFill>
                <a:latin typeface="Hanuman Bold"/>
                <a:ea typeface="Hanuman Bold"/>
                <a:cs typeface="Hanuman Bold"/>
                <a:sym typeface="Hanuman Bold"/>
              </a:rPr>
              <a:t>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32090" y="2319976"/>
            <a:ext cx="13399003" cy="1694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59"/>
              </a:lnSpc>
            </a:pPr>
            <a:r>
              <a:rPr lang="en-US" sz="48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Inaccurate predictions on Specific Digits</a:t>
            </a:r>
          </a:p>
          <a:p>
            <a:pPr algn="just" marL="0" indent="0" lvl="0">
              <a:lnSpc>
                <a:spcPts val="6859"/>
              </a:lnSpc>
              <a:spcBef>
                <a:spcPct val="0"/>
              </a:spcBef>
            </a:pPr>
            <a:r>
              <a:rPr lang="en-US" b="true" sz="4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like (3,4,5,9)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30186" y="4873756"/>
            <a:ext cx="2514404" cy="1167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9660"/>
              </a:lnSpc>
              <a:spcBef>
                <a:spcPct val="0"/>
              </a:spcBef>
            </a:pPr>
            <a:r>
              <a:rPr lang="en-US" sz="69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FIX: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49226" y="6373626"/>
            <a:ext cx="15810074" cy="2785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7"/>
              </a:lnSpc>
              <a:spcBef>
                <a:spcPct val="0"/>
              </a:spcBef>
            </a:pPr>
            <a:r>
              <a:rPr lang="en-US" b="true" sz="4775">
                <a:solidFill>
                  <a:srgbClr val="000000"/>
                </a:solidFill>
                <a:latin typeface="Hanuman Bold"/>
                <a:ea typeface="Hanuman Bold"/>
                <a:cs typeface="Hanuman Bold"/>
                <a:sym typeface="Hanuman Bold"/>
              </a:rPr>
              <a:t>Data Augmentation with </a:t>
            </a:r>
            <a:r>
              <a:rPr lang="en-US" b="true" sz="4775" u="sng">
                <a:solidFill>
                  <a:srgbClr val="000000"/>
                </a:solidFill>
                <a:latin typeface="Hanuman Bold"/>
                <a:ea typeface="Hanuman Bold"/>
                <a:cs typeface="Hanuman Bold"/>
                <a:sym typeface="Hanuman Bold"/>
              </a:rPr>
              <a:t>ImageDataGenerator</a:t>
            </a:r>
            <a:r>
              <a:rPr lang="en-US" b="true" sz="4775">
                <a:solidFill>
                  <a:srgbClr val="000000"/>
                </a:solidFill>
                <a:latin typeface="Hanuman Bold"/>
                <a:ea typeface="Hanuman Bold"/>
                <a:cs typeface="Hanuman Bold"/>
                <a:sym typeface="Hanuman Bold"/>
              </a:rPr>
              <a:t>:</a:t>
            </a:r>
            <a:r>
              <a:rPr lang="en-US" sz="4775">
                <a:solidFill>
                  <a:srgbClr val="000000"/>
                </a:solidFill>
                <a:latin typeface="Hanuman"/>
                <a:ea typeface="Hanuman"/>
                <a:cs typeface="Hanuman"/>
                <a:sym typeface="Hanuman"/>
              </a:rPr>
              <a:t> </a:t>
            </a:r>
          </a:p>
          <a:p>
            <a:pPr algn="ctr">
              <a:lnSpc>
                <a:spcPts val="7497"/>
              </a:lnSpc>
              <a:spcBef>
                <a:spcPct val="0"/>
              </a:spcBef>
            </a:pPr>
            <a:r>
              <a:rPr lang="en-US" sz="4775">
                <a:solidFill>
                  <a:srgbClr val="000000"/>
                </a:solidFill>
                <a:latin typeface="Hanuman"/>
                <a:ea typeface="Hanuman"/>
                <a:cs typeface="Hanuman"/>
                <a:sym typeface="Hanuman"/>
              </a:rPr>
              <a:t>used TensorFlow’s ImageDataGenerator to artificially expand training data. 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6208746" y="372733"/>
            <a:ext cx="2374846" cy="2383513"/>
          </a:xfrm>
          <a:custGeom>
            <a:avLst/>
            <a:gdLst/>
            <a:ahLst/>
            <a:cxnLst/>
            <a:rect r="r" b="b" t="t" l="l"/>
            <a:pathLst>
              <a:path h="2383513" w="2374846">
                <a:moveTo>
                  <a:pt x="0" y="0"/>
                </a:moveTo>
                <a:lnTo>
                  <a:pt x="2374846" y="0"/>
                </a:lnTo>
                <a:lnTo>
                  <a:pt x="2374846" y="2383513"/>
                </a:lnTo>
                <a:lnTo>
                  <a:pt x="0" y="2383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3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0075" y="6756601"/>
            <a:ext cx="17087850" cy="2146853"/>
            <a:chOff x="0" y="0"/>
            <a:chExt cx="4500504" cy="5654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00504" cy="565426"/>
            </a:xfrm>
            <a:custGeom>
              <a:avLst/>
              <a:gdLst/>
              <a:ahLst/>
              <a:cxnLst/>
              <a:rect r="r" b="b" t="t" l="l"/>
              <a:pathLst>
                <a:path h="565426" w="4500504">
                  <a:moveTo>
                    <a:pt x="13139" y="0"/>
                  </a:moveTo>
                  <a:lnTo>
                    <a:pt x="4487365" y="0"/>
                  </a:lnTo>
                  <a:cubicBezTo>
                    <a:pt x="4490850" y="0"/>
                    <a:pt x="4494191" y="1384"/>
                    <a:pt x="4496655" y="3848"/>
                  </a:cubicBezTo>
                  <a:cubicBezTo>
                    <a:pt x="4499119" y="6312"/>
                    <a:pt x="4500504" y="9654"/>
                    <a:pt x="4500504" y="13139"/>
                  </a:cubicBezTo>
                  <a:lnTo>
                    <a:pt x="4500504" y="552288"/>
                  </a:lnTo>
                  <a:cubicBezTo>
                    <a:pt x="4500504" y="555772"/>
                    <a:pt x="4499119" y="559114"/>
                    <a:pt x="4496655" y="561578"/>
                  </a:cubicBezTo>
                  <a:cubicBezTo>
                    <a:pt x="4494191" y="564042"/>
                    <a:pt x="4490850" y="565426"/>
                    <a:pt x="4487365" y="565426"/>
                  </a:cubicBezTo>
                  <a:lnTo>
                    <a:pt x="13139" y="565426"/>
                  </a:lnTo>
                  <a:cubicBezTo>
                    <a:pt x="9654" y="565426"/>
                    <a:pt x="6312" y="564042"/>
                    <a:pt x="3848" y="561578"/>
                  </a:cubicBezTo>
                  <a:cubicBezTo>
                    <a:pt x="1384" y="559114"/>
                    <a:pt x="0" y="555772"/>
                    <a:pt x="0" y="552288"/>
                  </a:cubicBezTo>
                  <a:lnTo>
                    <a:pt x="0" y="13139"/>
                  </a:lnTo>
                  <a:cubicBezTo>
                    <a:pt x="0" y="9654"/>
                    <a:pt x="1384" y="6312"/>
                    <a:pt x="3848" y="3848"/>
                  </a:cubicBezTo>
                  <a:cubicBezTo>
                    <a:pt x="6312" y="1384"/>
                    <a:pt x="9654" y="0"/>
                    <a:pt x="13139" y="0"/>
                  </a:cubicBezTo>
                  <a:close/>
                </a:path>
              </a:pathLst>
            </a:custGeom>
            <a:solidFill>
              <a:srgbClr val="F5F4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00504" cy="6035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212511" y="12527"/>
            <a:ext cx="22352060" cy="11195080"/>
            <a:chOff x="0" y="0"/>
            <a:chExt cx="29802747" cy="14926774"/>
          </a:xfrm>
        </p:grpSpPr>
        <p:sp>
          <p:nvSpPr>
            <p:cNvPr name="Freeform 6" id="6"/>
            <p:cNvSpPr/>
            <p:nvPr/>
          </p:nvSpPr>
          <p:spPr>
            <a:xfrm flipH="false" flipV="false" rot="-5400000">
              <a:off x="14875974" y="0"/>
              <a:ext cx="14926774" cy="14926774"/>
            </a:xfrm>
            <a:custGeom>
              <a:avLst/>
              <a:gdLst/>
              <a:ahLst/>
              <a:cxnLst/>
              <a:rect r="r" b="b" t="t" l="l"/>
              <a:pathLst>
                <a:path h="14926774" w="14926774">
                  <a:moveTo>
                    <a:pt x="0" y="0"/>
                  </a:moveTo>
                  <a:lnTo>
                    <a:pt x="14926773" y="0"/>
                  </a:lnTo>
                  <a:lnTo>
                    <a:pt x="14926773" y="14926774"/>
                  </a:lnTo>
                  <a:lnTo>
                    <a:pt x="0" y="14926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5400000">
              <a:off x="0" y="0"/>
              <a:ext cx="14926774" cy="14926774"/>
            </a:xfrm>
            <a:custGeom>
              <a:avLst/>
              <a:gdLst/>
              <a:ahLst/>
              <a:cxnLst/>
              <a:rect r="r" b="b" t="t" l="l"/>
              <a:pathLst>
                <a:path h="14926774" w="14926774">
                  <a:moveTo>
                    <a:pt x="0" y="0"/>
                  </a:moveTo>
                  <a:lnTo>
                    <a:pt x="14926774" y="0"/>
                  </a:lnTo>
                  <a:lnTo>
                    <a:pt x="14926774" y="14926774"/>
                  </a:lnTo>
                  <a:lnTo>
                    <a:pt x="0" y="14926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00075" y="3463213"/>
            <a:ext cx="17087850" cy="2146853"/>
            <a:chOff x="0" y="0"/>
            <a:chExt cx="4500504" cy="56542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00504" cy="565426"/>
            </a:xfrm>
            <a:custGeom>
              <a:avLst/>
              <a:gdLst/>
              <a:ahLst/>
              <a:cxnLst/>
              <a:rect r="r" b="b" t="t" l="l"/>
              <a:pathLst>
                <a:path h="565426" w="4500504">
                  <a:moveTo>
                    <a:pt x="13139" y="0"/>
                  </a:moveTo>
                  <a:lnTo>
                    <a:pt x="4487365" y="0"/>
                  </a:lnTo>
                  <a:cubicBezTo>
                    <a:pt x="4490850" y="0"/>
                    <a:pt x="4494191" y="1384"/>
                    <a:pt x="4496655" y="3848"/>
                  </a:cubicBezTo>
                  <a:cubicBezTo>
                    <a:pt x="4499119" y="6312"/>
                    <a:pt x="4500504" y="9654"/>
                    <a:pt x="4500504" y="13139"/>
                  </a:cubicBezTo>
                  <a:lnTo>
                    <a:pt x="4500504" y="552288"/>
                  </a:lnTo>
                  <a:cubicBezTo>
                    <a:pt x="4500504" y="555772"/>
                    <a:pt x="4499119" y="559114"/>
                    <a:pt x="4496655" y="561578"/>
                  </a:cubicBezTo>
                  <a:cubicBezTo>
                    <a:pt x="4494191" y="564042"/>
                    <a:pt x="4490850" y="565426"/>
                    <a:pt x="4487365" y="565426"/>
                  </a:cubicBezTo>
                  <a:lnTo>
                    <a:pt x="13139" y="565426"/>
                  </a:lnTo>
                  <a:cubicBezTo>
                    <a:pt x="9654" y="565426"/>
                    <a:pt x="6312" y="564042"/>
                    <a:pt x="3848" y="561578"/>
                  </a:cubicBezTo>
                  <a:cubicBezTo>
                    <a:pt x="1384" y="559114"/>
                    <a:pt x="0" y="555772"/>
                    <a:pt x="0" y="552288"/>
                  </a:cubicBezTo>
                  <a:lnTo>
                    <a:pt x="0" y="13139"/>
                  </a:lnTo>
                  <a:cubicBezTo>
                    <a:pt x="0" y="9654"/>
                    <a:pt x="1384" y="6312"/>
                    <a:pt x="3848" y="3848"/>
                  </a:cubicBezTo>
                  <a:cubicBezTo>
                    <a:pt x="6312" y="1384"/>
                    <a:pt x="9654" y="0"/>
                    <a:pt x="13139" y="0"/>
                  </a:cubicBezTo>
                  <a:close/>
                </a:path>
              </a:pathLst>
            </a:custGeom>
            <a:solidFill>
              <a:srgbClr val="F5F4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500504" cy="6035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00125" y="1057061"/>
            <a:ext cx="16230600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19"/>
              </a:lnSpc>
              <a:spcBef>
                <a:spcPct val="0"/>
              </a:spcBef>
            </a:pPr>
            <a:r>
              <a:rPr lang="en-US" sz="629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Futu</a:t>
            </a:r>
            <a:r>
              <a:rPr lang="en-US" sz="6299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re Work &amp; Improvements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3953270"/>
            <a:ext cx="924757" cy="924757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42816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28700" y="3976142"/>
            <a:ext cx="924757" cy="901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7497"/>
              </a:lnSpc>
              <a:spcBef>
                <a:spcPct val="0"/>
              </a:spcBef>
            </a:pPr>
            <a:r>
              <a:rPr lang="en-US" b="true" sz="4775" u="none">
                <a:solidFill>
                  <a:srgbClr val="F1E6B8"/>
                </a:solidFill>
                <a:latin typeface="Hanuman Bold"/>
                <a:ea typeface="Hanuman Bold"/>
                <a:cs typeface="Hanuman Bold"/>
                <a:sym typeface="Hanuman Bold"/>
              </a:rPr>
              <a:t>1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28700" y="7279110"/>
            <a:ext cx="924757" cy="924757"/>
            <a:chOff x="0" y="0"/>
            <a:chExt cx="6350000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42816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28700" y="7263641"/>
            <a:ext cx="924757" cy="901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7497"/>
              </a:lnSpc>
              <a:spcBef>
                <a:spcPct val="0"/>
              </a:spcBef>
            </a:pPr>
            <a:r>
              <a:rPr lang="en-US" b="true" sz="4775" u="none">
                <a:solidFill>
                  <a:srgbClr val="F1E6B8"/>
                </a:solidFill>
                <a:latin typeface="Hanuman Bold"/>
                <a:ea typeface="Hanuman Bold"/>
                <a:cs typeface="Hanuman Bold"/>
                <a:sym typeface="Hanuman Bold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11222" y="3662738"/>
            <a:ext cx="13997073" cy="165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4"/>
              </a:lnSpc>
            </a:pPr>
            <a:r>
              <a:rPr lang="en-US" b="true" sz="4688" strike="noStrike" u="none">
                <a:solidFill>
                  <a:srgbClr val="000000"/>
                </a:solidFill>
                <a:latin typeface="Hanuman Bold"/>
                <a:ea typeface="Hanuman Bold"/>
                <a:cs typeface="Hanuman Bold"/>
                <a:sym typeface="Hanuman Bold"/>
              </a:rPr>
              <a:t>Improve model to detect Multi-Language &amp; Multi-Script Support</a:t>
            </a:r>
            <a:r>
              <a:rPr lang="en-US" b="true" sz="4688" strike="noStrike" u="none">
                <a:solidFill>
                  <a:srgbClr val="000000"/>
                </a:solidFill>
                <a:latin typeface="Hanuman Bold"/>
                <a:ea typeface="Hanuman Bold"/>
                <a:cs typeface="Hanuman Bold"/>
                <a:sym typeface="Hanuman Bold"/>
              </a:rPr>
              <a:t> (Arabic numerals, English letters, etc)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69825" y="7351413"/>
            <a:ext cx="14873107" cy="82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6564"/>
              </a:lnSpc>
              <a:spcBef>
                <a:spcPct val="0"/>
              </a:spcBef>
            </a:pPr>
            <a:r>
              <a:rPr lang="en-US" b="true" sz="4688" strike="noStrike" u="none">
                <a:solidFill>
                  <a:srgbClr val="000000"/>
                </a:solidFill>
                <a:latin typeface="Hanuman Bold"/>
                <a:ea typeface="Hanuman Bold"/>
                <a:cs typeface="Hanuman Bold"/>
                <a:sym typeface="Hanuman Bold"/>
              </a:rPr>
              <a:t> Combine with OCR or Document Processing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3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32030" y="-454040"/>
            <a:ext cx="22352060" cy="11195080"/>
            <a:chOff x="0" y="0"/>
            <a:chExt cx="29802747" cy="14926774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14875974" y="0"/>
              <a:ext cx="14926774" cy="14926774"/>
            </a:xfrm>
            <a:custGeom>
              <a:avLst/>
              <a:gdLst/>
              <a:ahLst/>
              <a:cxnLst/>
              <a:rect r="r" b="b" t="t" l="l"/>
              <a:pathLst>
                <a:path h="14926774" w="14926774">
                  <a:moveTo>
                    <a:pt x="0" y="0"/>
                  </a:moveTo>
                  <a:lnTo>
                    <a:pt x="14926773" y="0"/>
                  </a:lnTo>
                  <a:lnTo>
                    <a:pt x="14926773" y="14926774"/>
                  </a:lnTo>
                  <a:lnTo>
                    <a:pt x="0" y="14926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0" y="0"/>
              <a:ext cx="14926774" cy="14926774"/>
            </a:xfrm>
            <a:custGeom>
              <a:avLst/>
              <a:gdLst/>
              <a:ahLst/>
              <a:cxnLst/>
              <a:rect r="r" b="b" t="t" l="l"/>
              <a:pathLst>
                <a:path h="14926774" w="14926774">
                  <a:moveTo>
                    <a:pt x="0" y="0"/>
                  </a:moveTo>
                  <a:lnTo>
                    <a:pt x="14926774" y="0"/>
                  </a:lnTo>
                  <a:lnTo>
                    <a:pt x="14926774" y="14926774"/>
                  </a:lnTo>
                  <a:lnTo>
                    <a:pt x="0" y="14926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1179608">
            <a:off x="-31783" y="2109683"/>
            <a:ext cx="1601231" cy="2361064"/>
          </a:xfrm>
          <a:custGeom>
            <a:avLst/>
            <a:gdLst/>
            <a:ahLst/>
            <a:cxnLst/>
            <a:rect r="r" b="b" t="t" l="l"/>
            <a:pathLst>
              <a:path h="2361064" w="1601231">
                <a:moveTo>
                  <a:pt x="0" y="0"/>
                </a:moveTo>
                <a:lnTo>
                  <a:pt x="1601230" y="0"/>
                </a:lnTo>
                <a:lnTo>
                  <a:pt x="1601230" y="2361064"/>
                </a:lnTo>
                <a:lnTo>
                  <a:pt x="0" y="23610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37205">
            <a:off x="165690" y="7641062"/>
            <a:ext cx="1726020" cy="2315392"/>
          </a:xfrm>
          <a:custGeom>
            <a:avLst/>
            <a:gdLst/>
            <a:ahLst/>
            <a:cxnLst/>
            <a:rect r="r" b="b" t="t" l="l"/>
            <a:pathLst>
              <a:path h="2315392" w="1726020">
                <a:moveTo>
                  <a:pt x="0" y="0"/>
                </a:moveTo>
                <a:lnTo>
                  <a:pt x="1726020" y="0"/>
                </a:lnTo>
                <a:lnTo>
                  <a:pt x="1726020" y="2315392"/>
                </a:lnTo>
                <a:lnTo>
                  <a:pt x="0" y="23153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60448">
            <a:off x="5826827" y="8241833"/>
            <a:ext cx="1595832" cy="2262133"/>
          </a:xfrm>
          <a:custGeom>
            <a:avLst/>
            <a:gdLst/>
            <a:ahLst/>
            <a:cxnLst/>
            <a:rect r="r" b="b" t="t" l="l"/>
            <a:pathLst>
              <a:path h="2262133" w="1595832">
                <a:moveTo>
                  <a:pt x="0" y="0"/>
                </a:moveTo>
                <a:lnTo>
                  <a:pt x="1595833" y="0"/>
                </a:lnTo>
                <a:lnTo>
                  <a:pt x="1595833" y="2262133"/>
                </a:lnTo>
                <a:lnTo>
                  <a:pt x="0" y="22621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441563">
            <a:off x="11935615" y="8229600"/>
            <a:ext cx="1909624" cy="2288221"/>
          </a:xfrm>
          <a:custGeom>
            <a:avLst/>
            <a:gdLst/>
            <a:ahLst/>
            <a:cxnLst/>
            <a:rect r="r" b="b" t="t" l="l"/>
            <a:pathLst>
              <a:path h="2288221" w="1909624">
                <a:moveTo>
                  <a:pt x="0" y="0"/>
                </a:moveTo>
                <a:lnTo>
                  <a:pt x="1909624" y="0"/>
                </a:lnTo>
                <a:lnTo>
                  <a:pt x="1909624" y="2288221"/>
                </a:lnTo>
                <a:lnTo>
                  <a:pt x="0" y="22882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875697">
            <a:off x="16888773" y="6399337"/>
            <a:ext cx="1697776" cy="2450858"/>
          </a:xfrm>
          <a:custGeom>
            <a:avLst/>
            <a:gdLst/>
            <a:ahLst/>
            <a:cxnLst/>
            <a:rect r="r" b="b" t="t" l="l"/>
            <a:pathLst>
              <a:path h="2450858" w="1697776">
                <a:moveTo>
                  <a:pt x="0" y="0"/>
                </a:moveTo>
                <a:lnTo>
                  <a:pt x="1697776" y="0"/>
                </a:lnTo>
                <a:lnTo>
                  <a:pt x="1697776" y="2450858"/>
                </a:lnTo>
                <a:lnTo>
                  <a:pt x="0" y="24508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381185">
            <a:off x="16249750" y="171617"/>
            <a:ext cx="1761264" cy="2368447"/>
          </a:xfrm>
          <a:custGeom>
            <a:avLst/>
            <a:gdLst/>
            <a:ahLst/>
            <a:cxnLst/>
            <a:rect r="r" b="b" t="t" l="l"/>
            <a:pathLst>
              <a:path h="2368447" w="1761264">
                <a:moveTo>
                  <a:pt x="0" y="0"/>
                </a:moveTo>
                <a:lnTo>
                  <a:pt x="1761263" y="0"/>
                </a:lnTo>
                <a:lnTo>
                  <a:pt x="1761263" y="2368448"/>
                </a:lnTo>
                <a:lnTo>
                  <a:pt x="0" y="236844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814235">
            <a:off x="11029412" y="-194797"/>
            <a:ext cx="1535032" cy="2215926"/>
          </a:xfrm>
          <a:custGeom>
            <a:avLst/>
            <a:gdLst/>
            <a:ahLst/>
            <a:cxnLst/>
            <a:rect r="r" b="b" t="t" l="l"/>
            <a:pathLst>
              <a:path h="2215926" w="1535032">
                <a:moveTo>
                  <a:pt x="0" y="0"/>
                </a:moveTo>
                <a:lnTo>
                  <a:pt x="1535033" y="0"/>
                </a:lnTo>
                <a:lnTo>
                  <a:pt x="1535033" y="2215926"/>
                </a:lnTo>
                <a:lnTo>
                  <a:pt x="0" y="221592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673014" y="-405236"/>
            <a:ext cx="1687393" cy="2314379"/>
          </a:xfrm>
          <a:custGeom>
            <a:avLst/>
            <a:gdLst/>
            <a:ahLst/>
            <a:cxnLst/>
            <a:rect r="r" b="b" t="t" l="l"/>
            <a:pathLst>
              <a:path h="2314379" w="1687393">
                <a:moveTo>
                  <a:pt x="0" y="0"/>
                </a:moveTo>
                <a:lnTo>
                  <a:pt x="1687393" y="0"/>
                </a:lnTo>
                <a:lnTo>
                  <a:pt x="1687393" y="2314379"/>
                </a:lnTo>
                <a:lnTo>
                  <a:pt x="0" y="231437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134454" y="4105795"/>
            <a:ext cx="12019092" cy="1865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281"/>
              </a:lnSpc>
              <a:spcBef>
                <a:spcPct val="0"/>
              </a:spcBef>
            </a:pPr>
            <a:r>
              <a:rPr lang="en-US" sz="10915">
                <a:solidFill>
                  <a:srgbClr val="000100"/>
                </a:solidFill>
                <a:latin typeface="Alice Bold"/>
                <a:ea typeface="Alice Bold"/>
                <a:cs typeface="Alice Bold"/>
                <a:sym typeface="Alice Bold"/>
              </a:rPr>
              <a:t>Thank you :)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DAGvV3wce6Q</dc:identifier>
  <dcterms:modified xsi:type="dcterms:W3CDTF">2011-08-01T06:04:30Z</dcterms:modified>
  <cp:revision>1</cp:revision>
  <dc:title>MINIST digit recognizer </dc:title>
</cp:coreProperties>
</file>